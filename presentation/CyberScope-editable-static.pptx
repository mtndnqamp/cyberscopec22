
<file path=[Content_Types].xml><?xml version="1.0" encoding="utf-8"?>
<ct:Types xmlns:ct="http://schemas.openxmlformats.org/package/2006/content-types">
  <ct:Default Extension="rels" ContentType="application/vnd.openxmlformats-package.relationships+xml"/>
  <ct:Default Extension="xml" ContentType="application/xml"/>
  <ct:Default Extension="png" ContentType="image/png"/>
  <ct:Default Extension="jpg" ContentType="image/jpeg"/>
  <ct:Default Extension="jpeg" ContentType="image/jpeg"/>
  <ct:Override PartName="/ppt/slides/slide1.xml" ContentType="application/vnd.openxmlformats-officedocument.presentationml.slide+xml"/>
  <ct:Override PartName="/ppt/slides/slide2.xml" ContentType="application/vnd.openxmlformats-officedocument.presentationml.slide+xml"/>
  <ct:Override PartName="/ppt/slides/slide3.xml" ContentType="application/vnd.openxmlformats-officedocument.presentationml.slide+xml"/>
  <ct:Override PartName="/ppt/slides/slide4.xml" ContentType="application/vnd.openxmlformats-officedocument.presentationml.slide+xml"/>
  <ct:Override PartName="/ppt/slides/slide5.xml" ContentType="application/vnd.openxmlformats-officedocument.presentationml.slide+xml"/>
  <ct:Override PartName="/ppt/slides/slide6.xml" ContentType="application/vnd.openxmlformats-officedocument.presentationml.slide+xml"/>
  <ct:Override PartName="/ppt/slides/slide7.xml" ContentType="application/vnd.openxmlformats-officedocument.presentationml.slide+xml"/>
  <ct:Override PartName="/ppt/slides/slide8.xml" ContentType="application/vnd.openxmlformats-officedocument.presentationml.slide+xml"/>
  <ct:Override PartName="/ppt/slides/slide9.xml" ContentType="application/vnd.openxmlformats-officedocument.presentationml.slide+xml"/>
  <ct:Override PartName="/ppt/slides/slide10.xml" ContentType="application/vnd.openxmlformats-officedocument.presentationml.slide+xml"/>
  <ct:Override PartName="/ppt/slideMasters/slideMaster1.xml" ContentType="application/vnd.openxmlformats-officedocument.presentationml.slideMaster+xml"/>
  <ct:Override PartName="/ppt/slideLayouts/slideLayout1.xml" ContentType="application/vnd.openxmlformats-officedocument.presentationml.slideLayout+xml"/>
  <ct:Override PartName="/ppt/theme/theme1.xml" ContentType="application/vnd.openxmlformats-officedocument.theme+xml"/>
  <ct:Override PartName="/ppt/presentation.xml" ContentType="application/vnd.openxmlformats-officedocument.presentationml.presentation.main+xml"/>
  <ct:Override PartName="/ppt/notesMasters/notesMaster1.xml" ContentType="application/vnd.openxmlformats-officedocument.presentationml.notesMaster+xml"/>
  <ct:Override PartName="/ppt/notesSlides/notesSlide1.xml" ContentType="application/vnd.openxmlformats-officedocument.presentationml.notesSlide+xml"/>
  <ct:Override PartName="/ppt/notesSlides/notesSlide2.xml" ContentType="application/vnd.openxmlformats-officedocument.presentationml.notesSlide+xml"/>
  <ct:Override PartName="/ppt/notesSlides/notesSlide3.xml" ContentType="application/vnd.openxmlformats-officedocument.presentationml.notesSlide+xml"/>
  <ct:Override PartName="/docProps/core.xml" ContentType="application/vnd.openxmlformats-package.core-properties+xml"/>
  <ct:Override PartName="/docProps/app.xml" ContentType="application/vnd.openxmlformats-officedocument.extended-properties+xml"/>
</ct:Types>
</file>

<file path=_rels/.rels><?xml version='1.0' encoding='utf-8'?>
<rel:Relationships xmlns:rel="http://schemas.openxmlformats.org/package/2006/relationships"><rel:Relationship Id="rId1" Type="http://schemas.openxmlformats.org/officeDocument/2006/relationships/officeDocument" Target="ppt/presentation.xml" /><rel:Relationship Id="rId2" Type="http://schemas.openxmlformats.org/package/2006/relationships/metadata/core-properties" Target="docProps/core.xml" /><rel:Relationship Id="rId3" Type="http://schemas.openxmlformats.org/officeDocument/2006/relationships/extended-properties" Target="docProps/app.xml" /></rel:Relationships>
</file>

<file path=ppt/presentation.xml><?xml version="1.0" encoding="utf-8"?>
<p:presentation xmlns:a="http://schemas.openxmlformats.org/drawingml/2006/main" xmlns:p="http://schemas.openxmlformats.org/presentationml/2006/main" xmlns:r="http://schemas.openxmlformats.org/officeDocument/2006/relationships">
  <p:sldMasterIdLst>
    <p:sldMasterId id="2147483648" r:id="rId1"/>
  </p:sldMasterIdLst>
  <p:notesMasterIdLst>
    <p:notesMasterId r:id="rId100"/>
  </p:notesMasterIdLst>
  <p:sldIdLst>
    <p:sldId id="256" r:id="rId2"/>
    <p:sldId id="257" r:id="rId3"/>
    <p:sldId id="258" r:id="rId4"/>
    <p:sldId id="259" r:id="rId5"/>
    <p:sldId id="260" r:id="rId6"/>
    <p:sldId id="261" r:id="rId7"/>
    <p:sldId id="262" r:id="rId8"/>
    <p:sldId id="263" r:id="rId9"/>
    <p:sldId id="264" r:id="rId10"/>
    <p:sldId id="265" r:id="rId11"/>
  </p:sldIdLst>
  <p:sldSz cx="12192000" cy="6858000" type="screen16x9"/>
  <p:notesSz cx="6858000" cy="9144000"/>
  <p:defaultTextStyle>
    <a:defPPr>
      <a:defRPr lang="en-AU"/>
    </a:defPPr>
  </p:defaultTextStyle>
</p:presentation>
</file>

<file path=ppt/_rels/presentation.xml.rels><?xml version='1.0' encoding='utf-8'?>
<rel:Relationships xmlns:rel="http://schemas.openxmlformats.org/package/2006/relationships"><rel:Relationship Id="rId1" Type="http://schemas.openxmlformats.org/officeDocument/2006/relationships/slideMaster" Target="slideMasters/slideMaster1.xml" /><rel:Relationship Id="rId2" Type="http://schemas.openxmlformats.org/officeDocument/2006/relationships/slide" Target="slides/slide1.xml" /><rel:Relationship Id="rId3" Type="http://schemas.openxmlformats.org/officeDocument/2006/relationships/slide" Target="slides/slide2.xml" /><rel:Relationship Id="rId4" Type="http://schemas.openxmlformats.org/officeDocument/2006/relationships/slide" Target="slides/slide3.xml" /><rel:Relationship Id="rId5" Type="http://schemas.openxmlformats.org/officeDocument/2006/relationships/slide" Target="slides/slide4.xml" /><rel:Relationship Id="rId6" Type="http://schemas.openxmlformats.org/officeDocument/2006/relationships/slide" Target="slides/slide5.xml" /><rel:Relationship Id="rId7" Type="http://schemas.openxmlformats.org/officeDocument/2006/relationships/slide" Target="slides/slide6.xml" /><rel:Relationship Id="rId8" Type="http://schemas.openxmlformats.org/officeDocument/2006/relationships/slide" Target="slides/slide7.xml" /><rel:Relationship Id="rId9" Type="http://schemas.openxmlformats.org/officeDocument/2006/relationships/slide" Target="slides/slide8.xml" /><rel:Relationship Id="rId10" Type="http://schemas.openxmlformats.org/officeDocument/2006/relationships/slide" Target="slides/slide9.xml" /><rel:Relationship Id="rId11" Type="http://schemas.openxmlformats.org/officeDocument/2006/relationships/slide" Target="slides/slide10.xml" /><rel:Relationship Id="rId100" Type="http://schemas.openxmlformats.org/officeDocument/2006/relationships/notesMaster" Target="notesMasters/notesMaster1.xml" /></rel:Relationships>
</file>

<file path=ppt/notesMasters/_rels/notesMaster1.xml.rels><?xml version='1.0' encoding='utf-8'?>
<rel:Relationships xmlns:rel="http://schemas.openxmlformats.org/package/2006/relationships"><rel:Relationship Id="rId1" Type="http://schemas.openxmlformats.org/officeDocument/2006/relationships/theme" Target="../theme/theme1.xml" /></rel:Relationships>
</file>

<file path=ppt/notesMasters/notesMaster1.xml><?xml version="1.0" encoding="utf-8"?>
<p:notesMaster xmlns:a="http://schemas.openxmlformats.org/drawingml/2006/main" xmlns:p="http://schemas.openxmlformats.org/presentationml/2006/main">
  <p:cSld name="Notes master">
    <p:spTree>
      <p:nvGrpSpPr>
        <p:cNvPr id="1" name="Slide objects"/>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p:notesMaster>
</file>

<file path=ppt/notesSlides/_rels/notesSlide1.xml.rels><?xml version='1.0' encoding='utf-8'?>
<rel:Relationships xmlns:rel="http://schemas.openxmlformats.org/package/2006/relationships"><rel:Relationship Id="rId1" Type="http://schemas.openxmlformats.org/officeDocument/2006/relationships/notesMaster" Target="../notesMasters/notesMaster1.xml" /><rel:Relationship Id="rId2" Type="http://schemas.openxmlformats.org/officeDocument/2006/relationships/slide" Target="../slides/slide1.xml" /></rel:Relationships>
</file>

<file path=ppt/notesSlides/_rels/notesSlide2.xml.rels><?xml version='1.0' encoding='utf-8'?>
<rel:Relationships xmlns:rel="http://schemas.openxmlformats.org/package/2006/relationships"><rel:Relationship Id="rId1" Type="http://schemas.openxmlformats.org/officeDocument/2006/relationships/notesMaster" Target="../notesMasters/notesMaster1.xml" /><rel:Relationship Id="rId2" Type="http://schemas.openxmlformats.org/officeDocument/2006/relationships/slide" Target="../slides/slide2.xml" /></rel:Relationships>
</file>

<file path=ppt/notesSlides/_rels/notesSlide3.xml.rels><?xml version='1.0' encoding='utf-8'?>
<rel:Relationships xmlns:rel="http://schemas.openxmlformats.org/package/2006/relationships"><rel:Relationship Id="rId1" Type="http://schemas.openxmlformats.org/officeDocument/2006/relationships/notesMaster" Target="../notesMasters/notesMaster1.xml" /><rel:Relationship Id="rId2" Type="http://schemas.openxmlformats.org/officeDocument/2006/relationships/slide" Target="../slides/slide3.xml" /></rel:Relationships>
</file>

<file path=ppt/notesSlides/notesSlide1.xml><?xml version="1.0" encoding="utf-8"?>
<p:notes xmlns:a="http://schemas.openxmlformats.org/drawingml/2006/main" xmlns:p="http://schemas.openxmlformats.org/presentationml/2006/main">
  <p:cSld>
    <p:spTree>
      <p:nvGrpSpPr>
        <p:cNvPr id="1" name="Slide objects"/>
        <p:cNvGrpSpPr/>
        <p:nvPr/>
      </p:nvGrpSpPr>
      <p:grpSpPr>
        <a:xfrm>
          <a:off x="0" y="0"/>
          <a:ext cx="0" cy="0"/>
          <a:chOff x="0" y="0"/>
          <a:chExt cx="0" cy="0"/>
        </a:xfrm>
      </p:grpSpPr>
      <p:sp>
        <p:nvSpPr>
          <p:cNvPr id="2" name="Speaker notes"/>
          <p:cNvSpPr txBox="1"/>
          <p:nvPr>
            <p:ph type="body" idx="1"/>
          </p:nvPr>
        </p:nvSpPr>
        <p:spPr>
          <a:xfrm>
            <a:off x="304800" y="3048000"/>
            <a:ext cx="5029200" cy="3810000"/>
          </a:xfrm>
        </p:spPr>
        <p:txBody>
          <a:bodyPr/>
          <a:lstStyle/>
          <a:p>
            <a:r>
              <a:rPr lang="en-AU" sz="1200">
                <a:latin typeface="Space Grotesk"/>
              </a:rPr>
              <a:t>We're the CyberScope team. We're investigating how changes to an IoT device affect trust in its sensor data. Our approach is to compare an integrity map of the device's current state with an approved baseline.</a:t>
            </a:r>
          </a:p>
        </p:txBody>
      </p:sp>
    </p:spTree>
  </p:cSld>
  <p:clrMapOvr>
    <a:masterClrMapping/>
  </p:clrMapOvr>
</p:notes>
</file>

<file path=ppt/notesSlides/notesSlide2.xml><?xml version="1.0" encoding="utf-8"?>
<p:notes xmlns:a="http://schemas.openxmlformats.org/drawingml/2006/main" xmlns:p="http://schemas.openxmlformats.org/presentationml/2006/main">
  <p:cSld>
    <p:spTree>
      <p:nvGrpSpPr>
        <p:cNvPr id="1" name="Slide objects"/>
        <p:cNvGrpSpPr/>
        <p:nvPr/>
      </p:nvGrpSpPr>
      <p:grpSpPr>
        <a:xfrm>
          <a:off x="0" y="0"/>
          <a:ext cx="0" cy="0"/>
          <a:chOff x="0" y="0"/>
          <a:chExt cx="0" cy="0"/>
        </a:xfrm>
      </p:grpSpPr>
      <p:sp>
        <p:nvSpPr>
          <p:cNvPr id="2" name="Speaker notes"/>
          <p:cNvSpPr txBox="1"/>
          <p:nvPr>
            <p:ph type="body" idx="1"/>
          </p:nvPr>
        </p:nvSpPr>
        <p:spPr>
          <a:xfrm>
            <a:off x="304800" y="3048000"/>
            <a:ext cx="5029200" cy="3810000"/>
          </a:xfrm>
        </p:spPr>
        <p:txBody>
          <a:bodyPr/>
          <a:lstStyle/>
          <a:p>
            <a:r>
              <a:rPr lang="en-AU" sz="1200">
                <a:latin typeface="Space Grotesk"/>
              </a:rPr>
              <a:t>Section 1: The problem and its impact</a:t>
            </a:r>
          </a:p>
          <a:p>
            <a:r>
              <a:rPr lang="en-AU" sz="1200">
                <a:latin typeface="Space Grotesk"/>
              </a:rPr>
              <a:t>In a smart home, an industrial environment or an autonomous system, decisions depend on data coming from IoT devices.</a:t>
            </a:r>
          </a:p>
          <a:p>
            <a:r>
              <a:rPr lang="en-AU" sz="1200">
                <a:latin typeface="Space Grotesk"/>
              </a:rPr>
              <a:t>Those devices are difficult to secure. The I2Map research describes how an attacker could change a device's hardware, software, network configuration or other settings without stopping it from operating.</a:t>
            </a:r>
          </a:p>
          <a:p>
            <a:r>
              <a:rPr lang="en-AU" sz="1200">
                <a:latin typeface="Space Grotesk"/>
              </a:rPr>
              <a:t>We can no longer assume its data is trustworthy just because it still appears to work normally. The effects can reach the systems that depend on that device too.</a:t>
            </a:r>
          </a:p>
          <a:p>
            <a:r>
              <a:rPr lang="en-AU" sz="1200">
                <a:latin typeface="Space Grotesk"/>
              </a:rPr>
              <a:t>Section 2: The evidence and CyberScope's purpose</a:t>
            </a:r>
          </a:p>
          <a:p>
            <a:r>
              <a:rPr lang="en-AU" sz="1200">
                <a:latin typeface="Space Grotesk"/>
              </a:rPr>
              <a:t>In its OT assessments and exercises, Dragos reported that 56 percent lacked visibility below the boundary between IT and operational technology. It also found that 88 percent struggled with detection and response. These figures are findings from those engagements, not a survey of all industrial control system owners.</a:t>
            </a:r>
          </a:p>
          <a:p>
            <a:r>
              <a:rPr lang="en-AU" sz="1200">
                <a:latin typeface="Space Grotesk"/>
              </a:rPr>
              <a:t>CyberScope checks whether a device has moved away from its known trusted state.</a:t>
            </a:r>
          </a:p>
          <a:p>
            <a:r>
              <a:rPr lang="en-AU" sz="1200">
                <a:latin typeface="Space Grotesk"/>
              </a:rPr>
              <a:t>We use the I2Map approach to collect selected device parameters and compare the current state with an approved baseline. This lets us identify changes before relying on the device's data.</a:t>
            </a:r>
          </a:p>
        </p:txBody>
      </p:sp>
    </p:spTree>
  </p:cSld>
  <p:clrMapOvr>
    <a:masterClrMapping/>
  </p:clrMapOvr>
</p:notes>
</file>

<file path=ppt/notesSlides/notesSlide3.xml><?xml version="1.0" encoding="utf-8"?>
<p:notes xmlns:a="http://schemas.openxmlformats.org/drawingml/2006/main" xmlns:p="http://schemas.openxmlformats.org/presentationml/2006/main">
  <p:cSld>
    <p:spTree>
      <p:nvGrpSpPr>
        <p:cNvPr id="1" name="Slide objects"/>
        <p:cNvGrpSpPr/>
        <p:nvPr/>
      </p:nvGrpSpPr>
      <p:grpSpPr>
        <a:xfrm>
          <a:off x="0" y="0"/>
          <a:ext cx="0" cy="0"/>
          <a:chOff x="0" y="0"/>
          <a:chExt cx="0" cy="0"/>
        </a:xfrm>
      </p:grpSpPr>
      <p:sp>
        <p:nvSpPr>
          <p:cNvPr id="2" name="Speaker notes"/>
          <p:cNvSpPr txBox="1"/>
          <p:nvPr>
            <p:ph type="body" idx="1"/>
          </p:nvPr>
        </p:nvSpPr>
        <p:spPr>
          <a:xfrm>
            <a:off x="304800" y="3048000"/>
            <a:ext cx="5029200" cy="3810000"/>
          </a:xfrm>
        </p:spPr>
        <p:txBody>
          <a:bodyPr/>
          <a:lstStyle/>
          <a:p>
            <a:r>
              <a:rPr lang="en-AU" sz="1200">
                <a:latin typeface="Space Grotesk"/>
              </a:rPr>
              <a:t>Collect, hash, compare, decide</a:t>
            </a:r>
          </a:p>
          <a:p>
            <a:r>
              <a:rPr lang="en-AU" sz="1200">
                <a:latin typeface="Space Grotesk"/>
              </a:rPr>
              <a:t>Our test device is a physical Raspberry Pi running the CyberScope client. The design uses three separate hosts for the client, the verifier and the blockchain. We use Python on the Pi to collect selected hardware, software, network and configuration parameters. The environmental parameters we can monitor depend on the measurements available.</a:t>
            </a:r>
          </a:p>
          <a:p>
            <a:r>
              <a:rPr lang="en-AU" sz="1200">
                <a:latin typeface="Space Grotesk"/>
              </a:rPr>
              <a:t>We then hash the collected values with SHA-256 to produce an integrity map, or I2Map. Hashing produces a digest; it doesn't encrypt the values.</a:t>
            </a:r>
          </a:p>
          <a:p>
            <a:r>
              <a:rPr lang="en-AU" sz="1200">
                <a:latin typeface="Space Grotesk"/>
              </a:rPr>
              <a:t>Scenario 1: Onboard and accept</a:t>
            </a:r>
          </a:p>
          <a:p>
            <a:r>
              <a:rPr lang="en-AU" sz="1200">
                <a:latin typeface="Space Grotesk"/>
              </a:rPr>
              <a:t>First, the administrator approves a device configuration known to be legitimate. The Raspberry Pi collects its parameters and generates the Base I2Map, our trusted reference. It sends that baseline to Host 3, where a Solidity smart contract stores it on a private Ethereum-compatible blockchain.</a:t>
            </a:r>
          </a:p>
          <a:p>
            <a:r>
              <a:rPr lang="en-AU" sz="1200">
                <a:latin typeface="Space Grotesk"/>
              </a:rPr>
              <a:t>Once the device is operating, the Pi collects its parameters again and generates a runtime I2Map using SHA-256. It sends that map to the blockchain on Host 3. The blockchain then passes the runtime I2Map and the approved baseline to the verifier on Host 2, where the two digests are compared.</a:t>
            </a:r>
          </a:p>
          <a:p>
            <a:r>
              <a:rPr lang="en-AU" sz="1200">
                <a:latin typeface="Space Grotesk"/>
              </a:rPr>
              <a:t>If the runtime digest matches the baseline, the monitored state hasn't changed. In this proposed flow, the verifier releases the sensor data to the consumer. The check only covers the parameters we monitor, so a match doesn't guarantee that every sensor reading is accurate.</a:t>
            </a:r>
          </a:p>
          <a:p>
            <a:r>
              <a:rPr lang="en-AU" sz="1200">
                <a:latin typeface="Space Grotesk"/>
              </a:rPr>
              <a:t>Scenario 2: Reject and restore</a:t>
            </a:r>
          </a:p>
          <a:p>
            <a:r>
              <a:rPr lang="en-AU" sz="1200">
                <a:latin typeface="Space Grotesk"/>
              </a:rPr>
              <a:t>Here, connecting an unauthorised USB device changes a monitored parameter. The Pi generates a new I2Map and sends it to the blockchain. The blockchain passes it to the verifier alongside the baseline. The verifier detects the mismatch, rejects the sensor data and alerts the administrator.</a:t>
            </a:r>
          </a:p>
          <a:p>
            <a:r>
              <a:rPr lang="en-AU" sz="1200">
                <a:latin typeface="Space Grotesk"/>
              </a:rPr>
              <a:t>The administrator then restores the approved configuration. The Pi generates another runtime I2Map, sends it to the blockchain, and the blockchain passes it to the verifier for another comparison. Once the digest matches, the verifier can accept data again. Throughout this scenario, the original baseline on the chain stays the same.</a:t>
            </a:r>
          </a:p>
          <a:p>
            <a:r>
              <a:rPr lang="en-AU" sz="1200">
                <a:latin typeface="Space Grotesk"/>
              </a:rPr>
              <a:t>Implementation, validation and demo handover</a:t>
            </a:r>
          </a:p>
          <a:p>
            <a:r>
              <a:rPr lang="en-AU" sz="1200">
                <a:latin typeface="Space Grotesk"/>
              </a:rPr>
              <a:t>What you're seeing is the architecture we're working towards. The repository contains Python integrity checks and a contract that stores and retrieves hashes. We still need to bring those components together for the full flow from the Raspberry Pi to the blockchain and then to the verifier.</a:t>
            </a:r>
          </a:p>
          <a:p>
            <a:r>
              <a:rPr lang="en-AU" sz="1200">
                <a:latin typeface="Space Grotesk"/>
              </a:rPr>
              <a:t>To test the integrated system, we'll deliberately change software, network settings and configuration, and connect an unauthorised USB device. To measure false positives, we'll repeat checks without changing the device. We'll also record execution time, transaction commit time and memory usage.</a:t>
            </a:r>
          </a:p>
          <a:p>
            <a:r>
              <a:rPr lang="en-AU" sz="1200">
                <a:latin typeface="Space Grotesk"/>
              </a:rPr>
              <a:t>We'll now show the prototype's current behaviour in the live demo.</a:t>
            </a:r>
          </a:p>
        </p:txBody>
      </p:sp>
    </p:spTree>
  </p:cSld>
  <p:clrMapOvr>
    <a:masterClrMapping/>
  </p:clrMapOvr>
</p:notes>
</file>

<file path=ppt/slideLayouts/_rels/slideLayout1.xml.rels><?xml version='1.0' encoding='utf-8'?>
<rel:Relationships xmlns:rel="http://schemas.openxmlformats.org/package/2006/relationships"><rel:Relationship Id="rId1" Type="http://schemas.openxmlformats.org/officeDocument/2006/relationships/slideMaster" Target="../slideMasters/slideMaster1.xml" /></rel:Relationships>
</file>

<file path=ppt/slideLayouts/slideLayout1.xml><?xml version="1.0" encoding="utf-8"?>
<p:sldLayout xmlns:a="http://schemas.openxmlformats.org/drawingml/2006/main" xmlns:p="http://schemas.openxmlformats.org/presentationml/2006/main" type="blank" preserve="1">
  <p:cSld name="Editable blank">
    <p:spTree>
      <p:nvGrpSpPr>
        <p:cNvPr id="1" name="Slide objects"/>
        <p:cNvGrpSpPr/>
        <p:nvPr/>
      </p:nvGrpSpPr>
      <p:grpSpPr>
        <a:xfrm>
          <a:off x="0" y="0"/>
          <a:ext cx="0" cy="0"/>
          <a:chOff x="0" y="0"/>
          <a:chExt cx="0" cy="0"/>
        </a:xfrm>
      </p:grpSpPr>
    </p:spTree>
  </p:cSld>
  <p:clrMapOvr>
    <a:masterClrMapping/>
  </p:clrMapOvr>
</p:sldLayout>
</file>

<file path=ppt/slideMasters/_rels/slideMaster1.xml.rels><?xml version='1.0' encoding='utf-8'?>
<rel:Relationships xmlns:rel="http://schemas.openxmlformats.org/package/2006/relationships"><rel:Relationship Id="rId1" Type="http://schemas.openxmlformats.org/officeDocument/2006/relationships/slideLayout" Target="../slideLayouts/slideLayout1.xml" /><rel:Relationship Id="rId2" Type="http://schemas.openxmlformats.org/officeDocument/2006/relationships/theme" Target="../theme/theme1.xml" /></re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CyberScope static master">
    <p:spTree>
      <p:nvGrpSpPr>
        <p:cNvPr id="1" name="Slide objects"/>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p:bodyStyle/>
    <p:otherStyle/>
  </p:txStyles>
</p:sldMaster>
</file>

<file path=ppt/slides/_rels/slide1.xml.rels><?xml version='1.0' encoding='utf-8'?>
<rel:Relationships xmlns:rel="http://schemas.openxmlformats.org/package/2006/relationships"><rel:Relationship Id="rId1" Type="http://schemas.openxmlformats.org/officeDocument/2006/relationships/slideLayout" Target="../slideLayouts/slideLayout1.xml" /><rel:Relationship Id="rId2" Type="http://schemas.openxmlformats.org/officeDocument/2006/relationships/notesSlide" Target="../notesSlides/notesSlide1.xml" /></rel:Relationships>
</file>

<file path=ppt/slides/_rels/slide2.xml.rels><?xml version='1.0' encoding='utf-8'?>
<rel:Relationships xmlns:rel="http://schemas.openxmlformats.org/package/2006/relationships"><rel:Relationship Id="rId1" Type="http://schemas.openxmlformats.org/officeDocument/2006/relationships/slideLayout" Target="../slideLayouts/slideLayout1.xml" /><rel:Relationship Id="rId2" Type="http://schemas.openxmlformats.org/officeDocument/2006/relationships/notesSlide" Target="../notesSlides/notesSlide2.xml" /></rel:Relationships>
</file>

<file path=ppt/slides/_rels/slide3.xml.rels><?xml version='1.0' encoding='utf-8'?>
<rel:Relationships xmlns:rel="http://schemas.openxmlformats.org/package/2006/relationships"><rel:Relationship Id="rId1" Type="http://schemas.openxmlformats.org/officeDocument/2006/relationships/slideLayout" Target="../slideLayouts/slideLayout1.xml" /><rel:Relationship Id="rId2" Type="http://schemas.openxmlformats.org/officeDocument/2006/relationships/notesSlide" Target="../notesSlides/notesSlide3.xml" /></rel:Relationships>
</file>

<file path=ppt/slides/_rels/slide4.xml.rels><?xml version='1.0' encoding='utf-8'?>
<rel:Relationships xmlns:rel="http://schemas.openxmlformats.org/package/2006/relationships"><rel:Relationship Id="rId1" Type="http://schemas.openxmlformats.org/officeDocument/2006/relationships/slideLayout" Target="../slideLayouts/slideLayout1.xml" /><rel:Relationship Id="rId11" Type="http://schemas.openxmlformats.org/officeDocument/2006/relationships/image" Target="../media/01-demo-layout.jpg" /></rel:Relationships>
</file>

<file path=ppt/slides/_rels/slide5.xml.rels><?xml version='1.0' encoding='utf-8'?>
<rel:Relationships xmlns:rel="http://schemas.openxmlformats.org/package/2006/relationships"><rel:Relationship Id="rId1" Type="http://schemas.openxmlformats.org/officeDocument/2006/relationships/slideLayout" Target="../slideLayouts/slideLayout1.xml" /><rel:Relationship Id="rId11" Type="http://schemas.openxmlformats.org/officeDocument/2006/relationships/image" Target="../media/02-clients-online.png" /></rel:Relationships>
</file>

<file path=ppt/slides/_rels/slide6.xml.rels><?xml version='1.0' encoding='utf-8'?>
<rel:Relationships xmlns:rel="http://schemas.openxmlformats.org/package/2006/relationships"><rel:Relationship Id="rId1" Type="http://schemas.openxmlformats.org/officeDocument/2006/relationships/slideLayout" Target="../slideLayouts/slideLayout1.xml" /><rel:Relationship Id="rId11" Type="http://schemas.openxmlformats.org/officeDocument/2006/relationships/image" Target="../media/03-demo-layout-usb.jpg" /></rel:Relationships>
</file>

<file path=ppt/slides/_rels/slide7.xml.rels><?xml version='1.0' encoding='utf-8'?>
<rel:Relationships xmlns:rel="http://schemas.openxmlformats.org/package/2006/relationships"><rel:Relationship Id="rId1" Type="http://schemas.openxmlformats.org/officeDocument/2006/relationships/slideLayout" Target="../slideLayouts/slideLayout1.xml" /><rel:Relationship Id="rId11" Type="http://schemas.openxmlformats.org/officeDocument/2006/relationships/image" Target="../media/04-deviation-detected.png" /></rel:Relationships>
</file>

<file path=ppt/slides/_rels/slide8.xml.rels><?xml version='1.0' encoding='utf-8'?>
<rel:Relationships xmlns:rel="http://schemas.openxmlformats.org/package/2006/relationships"><rel:Relationship Id="rId1" Type="http://schemas.openxmlformats.org/officeDocument/2006/relationships/slideLayout" Target="../slideLayouts/slideLayout1.xml" /><rel:Relationship Id="rId11" Type="http://schemas.openxmlformats.org/officeDocument/2006/relationships/image" Target="../media/05-discord-alert.png" /></rel:Relationships>
</file>

<file path=ppt/slides/_rels/slide9.xml.rels><?xml version='1.0' encoding='utf-8'?>
<rel:Relationships xmlns:rel="http://schemas.openxmlformats.org/package/2006/relationships"><rel:Relationship Id="rId1" Type="http://schemas.openxmlformats.org/officeDocument/2006/relationships/slideLayout" Target="../slideLayouts/slideLayout1.xml" /><rel:Relationship Id="rId11" Type="http://schemas.openxmlformats.org/officeDocument/2006/relationships/image" Target="../media/06-advanced-hunting-query.png" /></rel:Relationships>
</file>

<file path=ppt/slides/_rels/slide10.xml.rels><?xml version='1.0' encoding='utf-8'?>
<rel:Relationships xmlns:rel="http://schemas.openxmlformats.org/package/2006/relationships"><rel:Relationship Id="rId1" Type="http://schemas.openxmlformats.org/officeDocument/2006/relationships/slideLayout" Target="../slideLayouts/slideLayout1.xml" /><rel:Relationship Id="rId11" Type="http://schemas.openxmlformats.org/officeDocument/2006/relationships/image" Target="../media/07-defender-alert-open.png" /></rel:Relationships>
</file>

<file path=ppt/slides/slide1.xml><?xml version="1.0" encoding="utf-8"?>
<p:sld xmlns:a="http://schemas.openxmlformats.org/drawingml/2006/main" xmlns:p="http://schemas.openxmlformats.org/presentationml/2006/main">
  <p:cSld name="CyberScope.">
    <p:bg>
      <p:bgPr>
        <a:solidFill>
          <a:srgbClr val="F4F1E9"/>
        </a:solidFill>
        <a:effectLst/>
      </p:bgPr>
    </p:bg>
    <p:spTree>
      <p:nvGrpSpPr>
        <p:cNvPr id="1" name="Slide objects"/>
        <p:cNvGrpSpPr/>
        <p:nvPr/>
      </p:nvGrpSpPr>
      <p:grpSpPr>
        <a:xfrm>
          <a:off x="0" y="0"/>
          <a:ext cx="0" cy="0"/>
          <a:chOff x="0" y="0"/>
          <a:chExt cx="0" cy="0"/>
        </a:xfrm>
      </p:grpSpPr>
      <p:sp>
        <p:nvSpPr>
          <p:cNvPr id="2" name="project-title"/>
          <p:cNvSpPr txBox="1"/>
          <p:nvPr/>
        </p:nvSpPr>
        <p:spPr>
          <a:xfrm>
            <a:off x="629717" y="1285799"/>
            <a:ext cx="5397144" cy="1278179"/>
          </a:xfrm>
          <a:prstGeom prst="rect">
            <a:avLst/>
          </a:prstGeom>
          <a:noFill/>
          <a:ln w="7620" cap="flat">
            <a:noFill/>
            <a:round/>
          </a:ln>
        </p:spPr>
        <p:txBody>
          <a:bodyPr wrap="none" lIns="0" rIns="0" tIns="0" bIns="0" anchor="t" rtlCol="0">
            <a:noAutofit/>
          </a:bodyPr>
          <a:lstStyle/>
          <a:p>
            <a:pPr marL="0" indent="0" algn="l" fontAlgn="base">
              <a:lnSpc>
                <a:spcPts val="7827"/>
              </a:lnSpc>
              <a:spcBef>
                <a:spcPts val="0"/>
              </a:spcBef>
              <a:spcAft>
                <a:spcPts val="0"/>
              </a:spcAft>
              <a:buNone/>
            </a:pPr>
            <a:r>
              <a:rPr lang="en-AU" sz="7526" b="1" spc="-414" dirty="0">
                <a:solidFill>
                  <a:srgbClr val="20231F"/>
                </a:solidFill>
                <a:latin typeface="Space Grotesk"/>
                <a:ea typeface="Space Grotesk"/>
                <a:cs typeface="Space Grotesk"/>
              </a:rPr>
              <a:t xml:space="preserve">CyberScope</a:t>
            </a:r>
            <a:r>
              <a:rPr lang="en-AU" sz="7526" b="1" spc="-414" dirty="0">
                <a:solidFill>
                  <a:srgbClr val="214BE0"/>
                </a:solidFill>
                <a:latin typeface="Space Grotesk"/>
                <a:ea typeface="Space Grotesk"/>
                <a:cs typeface="Space Grotesk"/>
              </a:rPr>
              <a:t xml:space="preserve">.</a:t>
            </a:r>
            <a:endParaRPr lang="en-AU" sz="7526"/>
          </a:p>
        </p:txBody>
      </p:sp>
      <p:sp>
        <p:nvSpPr>
          <p:cNvPr id="3" name="title-subtitle"/>
          <p:cNvSpPr txBox="1"/>
          <p:nvPr/>
        </p:nvSpPr>
        <p:spPr>
          <a:xfrm>
            <a:off x="629717" y="2533705"/>
            <a:ext cx="3870953" cy="404469"/>
          </a:xfrm>
          <a:prstGeom prst="rect">
            <a:avLst/>
          </a:prstGeom>
          <a:noFill/>
          <a:ln w="7620" cap="flat">
            <a:noFill/>
            <a:round/>
          </a:ln>
        </p:spPr>
        <p:txBody>
          <a:bodyPr wrap="none" lIns="0" rIns="0" tIns="0" bIns="0" anchor="t" rtlCol="0">
            <a:noAutofit/>
          </a:bodyPr>
          <a:lstStyle/>
          <a:p>
            <a:pPr marL="0" indent="0" algn="l" fontAlgn="base">
              <a:lnSpc>
                <a:spcPts val="2117"/>
              </a:lnSpc>
              <a:spcBef>
                <a:spcPts val="0"/>
              </a:spcBef>
              <a:spcAft>
                <a:spcPts val="0"/>
              </a:spcAft>
              <a:buNone/>
            </a:pPr>
            <a:r>
              <a:rPr lang="en-AU" sz="2117" b="0" spc="-53" dirty="0">
                <a:solidFill>
                  <a:srgbClr val="20231F"/>
                </a:solidFill>
                <a:latin typeface="Space Grotesk"/>
                <a:ea typeface="Space Grotesk"/>
                <a:cs typeface="Space Grotesk"/>
              </a:rPr>
              <a:t xml:space="preserve">IoT device integrity attestation</a:t>
            </a:r>
            <a:endParaRPr lang="en-AU" sz="2117"/>
          </a:p>
        </p:txBody>
      </p:sp>
      <p:sp>
        <p:nvSpPr>
          <p:cNvPr id="4" name="title-team top"/>
          <p:cNvSpPr/>
          <p:nvPr/>
        </p:nvSpPr>
        <p:spPr>
          <a:xfrm>
            <a:off x="629717" y="3780794"/>
            <a:ext cx="10932566" cy="7620"/>
          </a:xfrm>
          <a:custGeom>
            <a:avLst/>
            <a:gdLst/>
            <a:ahLst/>
            <a:cxnLst/>
            <a:rect l="0" t="0" r="r" b="b"/>
            <a:pathLst>
              <a:path w="1434720" h="1000" fill="none" stroke="1" extrusionOk="0">
                <a:moveTo>
                  <a:pt x="0" y="0"/>
                </a:moveTo>
                <a:lnTo>
                  <a:pt x="1434720" y="0"/>
                </a:lnTo>
              </a:path>
            </a:pathLst>
          </a:custGeom>
          <a:noFill/>
          <a:ln w="7468" cap="flat">
            <a:solidFill>
              <a:srgbClr val="20231F"/>
            </a:solidFill>
            <a:round/>
          </a:ln>
        </p:spPr>
      </p:sp>
      <p:sp>
        <p:nvSpPr>
          <p:cNvPr id="5" name="H2"/>
          <p:cNvSpPr txBox="1"/>
          <p:nvPr/>
        </p:nvSpPr>
        <p:spPr>
          <a:xfrm>
            <a:off x="629717" y="3982419"/>
            <a:ext cx="949604" cy="232715"/>
          </a:xfrm>
          <a:prstGeom prst="rect">
            <a:avLst/>
          </a:prstGeom>
          <a:noFill/>
          <a:ln w="7620" cap="flat">
            <a:noFill/>
            <a:round/>
          </a:ln>
        </p:spPr>
        <p:txBody>
          <a:bodyPr wrap="none" lIns="0" rIns="0" tIns="0" bIns="0" anchor="t" rtlCol="0">
            <a:noAutofit/>
          </a:bodyPr>
          <a:lstStyle/>
          <a:p>
            <a:pPr marL="0" indent="0" algn="l" fontAlgn="base">
              <a:lnSpc>
                <a:spcPts val="1207"/>
              </a:lnSpc>
              <a:spcBef>
                <a:spcPts val="0"/>
              </a:spcBef>
              <a:spcAft>
                <a:spcPts val="0"/>
              </a:spcAft>
              <a:buNone/>
            </a:pPr>
            <a:r>
              <a:rPr lang="en-AU" sz="1058" b="0" spc="0" dirty="0">
                <a:solidFill>
                  <a:srgbClr val="60645B"/>
                </a:solidFill>
                <a:latin typeface="Space Grotesk"/>
                <a:ea typeface="Space Grotesk"/>
                <a:cs typeface="Space Grotesk"/>
              </a:rPr>
              <a:t xml:space="preserve">Presented by</a:t>
            </a:r>
            <a:endParaRPr lang="en-AU" sz="1058"/>
          </a:p>
        </p:txBody>
      </p:sp>
      <p:sp>
        <p:nvSpPr>
          <p:cNvPr id="6" name="LI"/>
          <p:cNvSpPr txBox="1"/>
          <p:nvPr/>
        </p:nvSpPr>
        <p:spPr>
          <a:xfrm>
            <a:off x="629717" y="4299909"/>
            <a:ext cx="1494739" cy="329794"/>
          </a:xfrm>
          <a:prstGeom prst="rect">
            <a:avLst/>
          </a:prstGeom>
          <a:noFill/>
          <a:ln w="7620" cap="flat">
            <a:noFill/>
            <a:round/>
          </a:ln>
        </p:spPr>
        <p:txBody>
          <a:bodyPr wrap="none" lIns="0" rIns="0" tIns="0" bIns="0" anchor="t" rtlCol="0">
            <a:noAutofit/>
          </a:bodyPr>
          <a:lstStyle/>
          <a:p>
            <a:pPr marL="0" indent="0" algn="l" fontAlgn="base">
              <a:lnSpc>
                <a:spcPts val="1646"/>
              </a:lnSpc>
              <a:spcBef>
                <a:spcPts val="0"/>
              </a:spcBef>
              <a:spcAft>
                <a:spcPts val="0"/>
              </a:spcAft>
              <a:buNone/>
            </a:pPr>
            <a:r>
              <a:rPr lang="en-AU" sz="1646" b="0" spc="0" dirty="0">
                <a:solidFill>
                  <a:srgbClr val="20231F"/>
                </a:solidFill>
                <a:latin typeface="Space Grotesk"/>
                <a:ea typeface="Space Grotesk"/>
                <a:cs typeface="Space Grotesk"/>
              </a:rPr>
              <a:t xml:space="preserve">Zafran Firdaus</a:t>
            </a:r>
            <a:endParaRPr lang="en-AU" sz="1646"/>
          </a:p>
        </p:txBody>
      </p:sp>
      <p:sp>
        <p:nvSpPr>
          <p:cNvPr id="7" name="LI"/>
          <p:cNvSpPr txBox="1"/>
          <p:nvPr/>
        </p:nvSpPr>
        <p:spPr>
          <a:xfrm>
            <a:off x="6342431" y="4299909"/>
            <a:ext cx="1651559" cy="329794"/>
          </a:xfrm>
          <a:prstGeom prst="rect">
            <a:avLst/>
          </a:prstGeom>
          <a:noFill/>
          <a:ln w="7620" cap="flat">
            <a:noFill/>
            <a:round/>
          </a:ln>
        </p:spPr>
        <p:txBody>
          <a:bodyPr wrap="none" lIns="0" rIns="0" tIns="0" bIns="0" anchor="t" rtlCol="0">
            <a:noAutofit/>
          </a:bodyPr>
          <a:lstStyle/>
          <a:p>
            <a:pPr marL="0" indent="0" algn="l" fontAlgn="base">
              <a:lnSpc>
                <a:spcPts val="1646"/>
              </a:lnSpc>
              <a:spcBef>
                <a:spcPts val="0"/>
              </a:spcBef>
              <a:spcAft>
                <a:spcPts val="0"/>
              </a:spcAft>
              <a:buNone/>
            </a:pPr>
            <a:r>
              <a:rPr lang="en-AU" sz="1646" b="0" spc="0" dirty="0">
                <a:solidFill>
                  <a:srgbClr val="20231F"/>
                </a:solidFill>
                <a:latin typeface="Space Grotesk"/>
                <a:ea typeface="Space Grotesk"/>
                <a:cs typeface="Space Grotesk"/>
              </a:rPr>
              <a:t xml:space="preserve">Daniel Mawston</a:t>
            </a:r>
            <a:endParaRPr lang="en-AU" sz="1646"/>
          </a:p>
        </p:txBody>
      </p:sp>
      <p:sp>
        <p:nvSpPr>
          <p:cNvPr id="8" name="LI"/>
          <p:cNvSpPr txBox="1"/>
          <p:nvPr/>
        </p:nvSpPr>
        <p:spPr>
          <a:xfrm>
            <a:off x="629717" y="4688224"/>
            <a:ext cx="1308049" cy="329794"/>
          </a:xfrm>
          <a:prstGeom prst="rect">
            <a:avLst/>
          </a:prstGeom>
          <a:noFill/>
          <a:ln w="7620" cap="flat">
            <a:noFill/>
            <a:round/>
          </a:ln>
        </p:spPr>
        <p:txBody>
          <a:bodyPr wrap="none" lIns="0" rIns="0" tIns="0" bIns="0" anchor="t" rtlCol="0">
            <a:noAutofit/>
          </a:bodyPr>
          <a:lstStyle/>
          <a:p>
            <a:pPr marL="0" indent="0" algn="l" fontAlgn="base">
              <a:lnSpc>
                <a:spcPts val="1646"/>
              </a:lnSpc>
              <a:spcBef>
                <a:spcPts val="0"/>
              </a:spcBef>
              <a:spcAft>
                <a:spcPts val="0"/>
              </a:spcAft>
              <a:buNone/>
            </a:pPr>
            <a:r>
              <a:rPr lang="en-AU" sz="1646" b="0" spc="0" dirty="0">
                <a:solidFill>
                  <a:srgbClr val="20231F"/>
                </a:solidFill>
                <a:latin typeface="Space Grotesk"/>
                <a:ea typeface="Space Grotesk"/>
                <a:cs typeface="Space Grotesk"/>
              </a:rPr>
              <a:t xml:space="preserve">Noah Adams</a:t>
            </a:r>
            <a:endParaRPr lang="en-AU" sz="1646"/>
          </a:p>
        </p:txBody>
      </p:sp>
      <p:sp>
        <p:nvSpPr>
          <p:cNvPr id="9" name="LI"/>
          <p:cNvSpPr txBox="1"/>
          <p:nvPr/>
        </p:nvSpPr>
        <p:spPr>
          <a:xfrm>
            <a:off x="6342431" y="4688224"/>
            <a:ext cx="1427531" cy="329794"/>
          </a:xfrm>
          <a:prstGeom prst="rect">
            <a:avLst/>
          </a:prstGeom>
          <a:noFill/>
          <a:ln w="7620" cap="flat">
            <a:noFill/>
            <a:round/>
          </a:ln>
        </p:spPr>
        <p:txBody>
          <a:bodyPr wrap="none" lIns="0" rIns="0" tIns="0" bIns="0" anchor="t" rtlCol="0">
            <a:noAutofit/>
          </a:bodyPr>
          <a:lstStyle/>
          <a:p>
            <a:pPr marL="0" indent="0" algn="l" fontAlgn="base">
              <a:lnSpc>
                <a:spcPts val="1646"/>
              </a:lnSpc>
              <a:spcBef>
                <a:spcPts val="0"/>
              </a:spcBef>
              <a:spcAft>
                <a:spcPts val="0"/>
              </a:spcAft>
              <a:buNone/>
            </a:pPr>
            <a:r>
              <a:rPr lang="en-AU" sz="1646" b="0" spc="0" dirty="0">
                <a:solidFill>
                  <a:srgbClr val="20231F"/>
                </a:solidFill>
                <a:latin typeface="Space Grotesk"/>
                <a:ea typeface="Space Grotesk"/>
                <a:cs typeface="Space Grotesk"/>
              </a:rPr>
              <a:t xml:space="preserve">Aiden Monico</a:t>
            </a:r>
            <a:endParaRPr lang="en-AU" sz="1646"/>
          </a:p>
        </p:txBody>
      </p:sp>
      <p:sp>
        <p:nvSpPr>
          <p:cNvPr id="10" name="LI"/>
          <p:cNvSpPr txBox="1"/>
          <p:nvPr/>
        </p:nvSpPr>
        <p:spPr>
          <a:xfrm>
            <a:off x="629717" y="5076539"/>
            <a:ext cx="1830781" cy="329793"/>
          </a:xfrm>
          <a:prstGeom prst="rect">
            <a:avLst/>
          </a:prstGeom>
          <a:noFill/>
          <a:ln w="7620" cap="flat">
            <a:noFill/>
            <a:round/>
          </a:ln>
        </p:spPr>
        <p:txBody>
          <a:bodyPr wrap="none" lIns="0" rIns="0" tIns="0" bIns="0" anchor="t" rtlCol="0">
            <a:noAutofit/>
          </a:bodyPr>
          <a:lstStyle/>
          <a:p>
            <a:pPr marL="0" indent="0" algn="l" fontAlgn="base">
              <a:lnSpc>
                <a:spcPts val="1646"/>
              </a:lnSpc>
              <a:spcBef>
                <a:spcPts val="0"/>
              </a:spcBef>
              <a:spcAft>
                <a:spcPts val="0"/>
              </a:spcAft>
              <a:buNone/>
            </a:pPr>
            <a:r>
              <a:rPr lang="en-AU" sz="1646" b="0" spc="0" dirty="0">
                <a:solidFill>
                  <a:srgbClr val="20231F"/>
                </a:solidFill>
                <a:latin typeface="Space Grotesk"/>
                <a:ea typeface="Space Grotesk"/>
                <a:cs typeface="Space Grotesk"/>
              </a:rPr>
              <a:t xml:space="preserve">Mahyar Sabzevari</a:t>
            </a:r>
            <a:endParaRPr lang="en-AU" sz="1646"/>
          </a:p>
        </p:txBody>
      </p:sp>
      <p:sp>
        <p:nvSpPr>
          <p:cNvPr id="11" name="LI"/>
          <p:cNvSpPr txBox="1"/>
          <p:nvPr/>
        </p:nvSpPr>
        <p:spPr>
          <a:xfrm>
            <a:off x="6342431" y="5076539"/>
            <a:ext cx="2077212" cy="329793"/>
          </a:xfrm>
          <a:prstGeom prst="rect">
            <a:avLst/>
          </a:prstGeom>
          <a:noFill/>
          <a:ln w="7620" cap="flat">
            <a:noFill/>
            <a:round/>
          </a:ln>
        </p:spPr>
        <p:txBody>
          <a:bodyPr wrap="none" lIns="0" rIns="0" tIns="0" bIns="0" anchor="t" rtlCol="0">
            <a:noAutofit/>
          </a:bodyPr>
          <a:lstStyle/>
          <a:p>
            <a:pPr marL="0" indent="0" algn="l" fontAlgn="base">
              <a:lnSpc>
                <a:spcPts val="1646"/>
              </a:lnSpc>
              <a:spcBef>
                <a:spcPts val="0"/>
              </a:spcBef>
              <a:spcAft>
                <a:spcPts val="0"/>
              </a:spcAft>
              <a:buNone/>
            </a:pPr>
            <a:r>
              <a:rPr lang="en-AU" sz="1646" b="0" spc="0" dirty="0">
                <a:solidFill>
                  <a:srgbClr val="20231F"/>
                </a:solidFill>
                <a:latin typeface="Space Grotesk"/>
                <a:ea typeface="Space Grotesk"/>
                <a:cs typeface="Space Grotesk"/>
              </a:rPr>
              <a:t xml:space="preserve">Mahdi Sharafeddine</a:t>
            </a:r>
            <a:endParaRPr lang="en-AU" sz="1646"/>
          </a:p>
        </p:txBody>
      </p:sp>
    </p:spTree>
  </p:cSld>
  <p:clrMapOvr>
    <a:masterClrMapping/>
  </p:clrMapOvr>
</p:sld>
</file>

<file path=ppt/slides/slide2.xml><?xml version="1.0" encoding="utf-8"?>
<p:sld xmlns:a="http://schemas.openxmlformats.org/drawingml/2006/main" xmlns:p="http://schemas.openxmlformats.org/presentationml/2006/main">
  <p:cSld name="Problem statement.">
    <p:bg>
      <p:bgPr>
        <a:solidFill>
          <a:srgbClr val="F4F1E9"/>
        </a:solidFill>
        <a:effectLst/>
      </p:bgPr>
    </p:bg>
    <p:spTree>
      <p:nvGrpSpPr>
        <p:cNvPr id="1" name="Slide objects"/>
        <p:cNvGrpSpPr/>
        <p:nvPr/>
      </p:nvGrpSpPr>
      <p:grpSpPr>
        <a:xfrm>
          <a:off x="0" y="0"/>
          <a:ext cx="0" cy="0"/>
          <a:chOff x="0" y="0"/>
          <a:chExt cx="0" cy="0"/>
        </a:xfrm>
      </p:grpSpPr>
      <p:sp>
        <p:nvSpPr>
          <p:cNvPr id="2" name="slide-header bottom"/>
          <p:cNvSpPr/>
          <p:nvPr/>
        </p:nvSpPr>
        <p:spPr>
          <a:xfrm>
            <a:off x="629717" y="1209023"/>
            <a:ext cx="10932566" cy="7620"/>
          </a:xfrm>
          <a:custGeom>
            <a:avLst/>
            <a:gdLst/>
            <a:ahLst/>
            <a:cxnLst/>
            <a:rect l="0" t="0" r="r" b="b"/>
            <a:pathLst>
              <a:path w="1434720" h="1000" fill="none" stroke="1" extrusionOk="0">
                <a:moveTo>
                  <a:pt x="0" y="0"/>
                </a:moveTo>
                <a:lnTo>
                  <a:pt x="1434720" y="0"/>
                </a:lnTo>
              </a:path>
            </a:pathLst>
          </a:custGeom>
          <a:noFill/>
          <a:ln w="7468" cap="flat">
            <a:solidFill>
              <a:srgbClr val="20231F"/>
            </a:solidFill>
            <a:round/>
          </a:ln>
        </p:spPr>
      </p:sp>
      <p:sp>
        <p:nvSpPr>
          <p:cNvPr id="3" name="problem-title"/>
          <p:cNvSpPr txBox="1"/>
          <p:nvPr/>
        </p:nvSpPr>
        <p:spPr>
          <a:xfrm>
            <a:off x="629717" y="404622"/>
            <a:ext cx="4512000" cy="710641"/>
          </a:xfrm>
          <a:prstGeom prst="rect">
            <a:avLst/>
          </a:prstGeom>
          <a:noFill/>
          <a:ln w="7620" cap="flat">
            <a:noFill/>
            <a:round/>
          </a:ln>
        </p:spPr>
        <p:txBody>
          <a:bodyPr wrap="none" lIns="0" rIns="0" tIns="0" bIns="0" anchor="t" rtlCol="0">
            <a:noAutofit/>
          </a:bodyPr>
          <a:lstStyle/>
          <a:p>
            <a:pPr marL="0" indent="0" algn="l" fontAlgn="base">
              <a:lnSpc>
                <a:spcPts val="4158"/>
              </a:lnSpc>
              <a:spcBef>
                <a:spcPts val="0"/>
              </a:spcBef>
              <a:spcAft>
                <a:spcPts val="0"/>
              </a:spcAft>
              <a:buNone/>
            </a:pPr>
            <a:r>
              <a:rPr lang="en-AU" sz="3998" b="1" spc="-160" dirty="0">
                <a:solidFill>
                  <a:srgbClr val="20231F"/>
                </a:solidFill>
                <a:latin typeface="Space Grotesk"/>
                <a:ea typeface="Space Grotesk"/>
                <a:cs typeface="Space Grotesk"/>
              </a:rPr>
              <a:t xml:space="preserve">Problem statement</a:t>
            </a:r>
            <a:r>
              <a:rPr lang="en-AU" sz="3998" b="1" spc="-160" dirty="0">
                <a:solidFill>
                  <a:srgbClr val="214BE0"/>
                </a:solidFill>
                <a:latin typeface="Space Grotesk"/>
                <a:ea typeface="Space Grotesk"/>
                <a:cs typeface="Space Grotesk"/>
              </a:rPr>
              <a:t xml:space="preserve">.</a:t>
            </a:r>
            <a:endParaRPr lang="en-AU" sz="3998"/>
          </a:p>
        </p:txBody>
      </p:sp>
      <p:sp>
        <p:nvSpPr>
          <p:cNvPr id="4" name="wordmark"/>
          <p:cNvSpPr txBox="1"/>
          <p:nvPr/>
        </p:nvSpPr>
        <p:spPr>
          <a:xfrm>
            <a:off x="10470497" y="608931"/>
            <a:ext cx="1152746" cy="314858"/>
          </a:xfrm>
          <a:prstGeom prst="rect">
            <a:avLst/>
          </a:prstGeom>
          <a:noFill/>
          <a:ln w="7620" cap="flat">
            <a:noFill/>
            <a:round/>
          </a:ln>
        </p:spPr>
        <p:txBody>
          <a:bodyPr wrap="none" lIns="0" rIns="0" tIns="0" bIns="0" anchor="t" rtlCol="0">
            <a:noAutofit/>
          </a:bodyPr>
          <a:lstStyle/>
          <a:p>
            <a:pPr marL="0" indent="0" algn="l" fontAlgn="base">
              <a:lnSpc>
                <a:spcPts val="1529"/>
              </a:lnSpc>
              <a:spcBef>
                <a:spcPts val="0"/>
              </a:spcBef>
              <a:spcAft>
                <a:spcPts val="0"/>
              </a:spcAft>
              <a:buNone/>
            </a:pPr>
            <a:r>
              <a:rPr lang="en-AU" sz="1529" b="1" spc="-46" dirty="0">
                <a:solidFill>
                  <a:srgbClr val="20231F"/>
                </a:solidFill>
                <a:latin typeface="Space Grotesk"/>
                <a:ea typeface="Space Grotesk"/>
                <a:cs typeface="Space Grotesk"/>
              </a:rPr>
              <a:t xml:space="preserve">CyberScope</a:t>
            </a:r>
            <a:endParaRPr lang="en-AU" sz="1529"/>
          </a:p>
        </p:txBody>
      </p:sp>
      <p:sp>
        <p:nvSpPr>
          <p:cNvPr id="5" name="H2"/>
          <p:cNvSpPr txBox="1"/>
          <p:nvPr/>
        </p:nvSpPr>
        <p:spPr>
          <a:xfrm>
            <a:off x="629717" y="1604805"/>
            <a:ext cx="3556497" cy="980408"/>
          </a:xfrm>
          <a:prstGeom prst="rect">
            <a:avLst/>
          </a:prstGeom>
          <a:noFill/>
          <a:ln w="7620" cap="flat">
            <a:noFill/>
            <a:round/>
          </a:ln>
        </p:spPr>
        <p:txBody>
          <a:bodyPr wrap="none" lIns="0" rIns="0" tIns="0" bIns="0" anchor="t" rtlCol="0">
            <a:noAutofit/>
          </a:bodyPr>
          <a:lstStyle/>
          <a:p>
            <a:pPr marL="0" indent="0" algn="l" fontAlgn="base">
              <a:lnSpc>
                <a:spcPts val="3418"/>
              </a:lnSpc>
              <a:spcBef>
                <a:spcPts val="0"/>
              </a:spcBef>
              <a:spcAft>
                <a:spcPts val="0"/>
              </a:spcAft>
              <a:buNone/>
            </a:pPr>
            <a:r>
              <a:rPr lang="en-AU" sz="2999" b="0" spc="-105" dirty="0">
                <a:solidFill>
                  <a:srgbClr val="20231F"/>
                </a:solidFill>
                <a:latin typeface="Space Grotesk"/>
                <a:ea typeface="Space Grotesk"/>
                <a:cs typeface="Space Grotesk"/>
              </a:rPr>
              <a:t xml:space="preserve">A working device.</a:t>
            </a:r>
            <a:endParaRPr lang="en-AU" sz="2999"/>
          </a:p>
          <a:p>
            <a:pPr marL="0" indent="0" algn="l" fontAlgn="base">
              <a:lnSpc>
                <a:spcPts val="3419"/>
              </a:lnSpc>
              <a:spcBef>
                <a:spcPts val="0"/>
              </a:spcBef>
              <a:spcAft>
                <a:spcPts val="0"/>
              </a:spcAft>
              <a:buNone/>
            </a:pPr>
            <a:r>
              <a:rPr lang="en-AU" sz="2999" b="0" spc="-105" dirty="0">
                <a:solidFill>
                  <a:srgbClr val="214BE0"/>
                </a:solidFill>
                <a:latin typeface="Space Grotesk"/>
                <a:ea typeface="Space Grotesk"/>
                <a:cs typeface="Space Grotesk"/>
              </a:rPr>
              <a:t xml:space="preserve">Untrustworthy data.</a:t>
            </a:r>
            <a:endParaRPr lang="en-AU" sz="2999"/>
          </a:p>
        </p:txBody>
      </p:sp>
      <p:sp>
        <p:nvSpPr>
          <p:cNvPr id="6" name="LI"/>
          <p:cNvSpPr txBox="1"/>
          <p:nvPr/>
        </p:nvSpPr>
        <p:spPr>
          <a:xfrm>
            <a:off x="823874" y="2771618"/>
            <a:ext cx="3249625" cy="314858"/>
          </a:xfrm>
          <a:prstGeom prst="rect">
            <a:avLst/>
          </a:prstGeom>
          <a:noFill/>
          <a:ln w="7620" cap="flat">
            <a:noFill/>
            <a:round/>
          </a:ln>
        </p:spPr>
        <p:txBody>
          <a:bodyPr wrap="none" lIns="0" rIns="0" tIns="0" bIns="0" anchor="t" rtlCol="0">
            <a:noAutofit/>
          </a:bodyPr>
          <a:lstStyle/>
          <a:p>
            <a:pPr marL="0" indent="0" algn="l" fontAlgn="base">
              <a:lnSpc>
                <a:spcPts val="2217"/>
              </a:lnSpc>
              <a:spcBef>
                <a:spcPts val="0"/>
              </a:spcBef>
              <a:spcAft>
                <a:spcPts val="0"/>
              </a:spcAft>
              <a:buNone/>
            </a:pPr>
            <a:r>
              <a:rPr lang="en-AU" sz="1529" b="0" spc="0" dirty="0">
                <a:solidFill>
                  <a:srgbClr val="20231F"/>
                </a:solidFill>
                <a:latin typeface="Space Grotesk"/>
                <a:ea typeface="Space Grotesk"/>
                <a:cs typeface="Space Grotesk"/>
              </a:rPr>
              <a:t xml:space="preserve">IoT devices are difficult to secure.</a:t>
            </a:r>
            <a:endParaRPr lang="en-AU" sz="1529"/>
          </a:p>
        </p:txBody>
      </p:sp>
      <p:sp>
        <p:nvSpPr>
          <p:cNvPr id="7" name="Bullet"/>
          <p:cNvSpPr/>
          <p:nvPr/>
        </p:nvSpPr>
        <p:spPr>
          <a:xfrm>
            <a:off x="629717" y="2883632"/>
            <a:ext cx="52273" cy="52273"/>
          </a:xfrm>
          <a:prstGeom prst="ellipse">
            <a:avLst/>
          </a:prstGeom>
          <a:solidFill>
            <a:srgbClr val="214BE0"/>
          </a:solidFill>
          <a:ln w="7620" cap="flat">
            <a:noFill/>
            <a:round/>
          </a:ln>
        </p:spPr>
      </p:sp>
      <p:sp>
        <p:nvSpPr>
          <p:cNvPr id="8" name="LI"/>
          <p:cNvSpPr txBox="1"/>
          <p:nvPr/>
        </p:nvSpPr>
        <p:spPr>
          <a:xfrm>
            <a:off x="823874" y="3187470"/>
            <a:ext cx="3959047" cy="596294"/>
          </a:xfrm>
          <a:prstGeom prst="rect">
            <a:avLst/>
          </a:prstGeom>
          <a:noFill/>
          <a:ln w="7620" cap="flat">
            <a:noFill/>
            <a:round/>
          </a:ln>
        </p:spPr>
        <p:txBody>
          <a:bodyPr wrap="none" lIns="0" rIns="0" tIns="0" bIns="0" anchor="t" rtlCol="0">
            <a:noAutofit/>
          </a:bodyPr>
          <a:lstStyle/>
          <a:p>
            <a:pPr marL="0" indent="0" algn="l" fontAlgn="base">
              <a:lnSpc>
                <a:spcPts val="2216"/>
              </a:lnSpc>
              <a:spcBef>
                <a:spcPts val="0"/>
              </a:spcBef>
              <a:spcAft>
                <a:spcPts val="0"/>
              </a:spcAft>
              <a:buNone/>
            </a:pPr>
            <a:r>
              <a:rPr lang="en-AU" sz="1529" b="0" spc="0" dirty="0">
                <a:solidFill>
                  <a:srgbClr val="20231F"/>
                </a:solidFill>
                <a:latin typeface="Space Grotesk"/>
                <a:ea typeface="Space Grotesk"/>
                <a:cs typeface="Space Grotesk"/>
              </a:rPr>
              <a:t xml:space="preserve">Compromise can have a large blast radius</a:t>
            </a:r>
            <a:endParaRPr lang="en-AU" sz="1529"/>
          </a:p>
          <a:p>
            <a:pPr marL="0" indent="0" algn="l" fontAlgn="base">
              <a:lnSpc>
                <a:spcPts val="2217"/>
              </a:lnSpc>
              <a:spcBef>
                <a:spcPts val="0"/>
              </a:spcBef>
              <a:spcAft>
                <a:spcPts val="0"/>
              </a:spcAft>
              <a:buNone/>
            </a:pPr>
            <a:r>
              <a:rPr lang="en-AU" sz="1529" b="0" spc="0" dirty="0">
                <a:solidFill>
                  <a:srgbClr val="20231F"/>
                </a:solidFill>
                <a:latin typeface="Space Grotesk"/>
                <a:ea typeface="Space Grotesk"/>
                <a:cs typeface="Space Grotesk"/>
              </a:rPr>
              <a:t xml:space="preserve">and far-reaching effects.</a:t>
            </a:r>
            <a:endParaRPr lang="en-AU" sz="1529"/>
          </a:p>
        </p:txBody>
      </p:sp>
      <p:sp>
        <p:nvSpPr>
          <p:cNvPr id="9" name="Bullet"/>
          <p:cNvSpPr/>
          <p:nvPr/>
        </p:nvSpPr>
        <p:spPr>
          <a:xfrm>
            <a:off x="629717" y="3299484"/>
            <a:ext cx="52273" cy="52273"/>
          </a:xfrm>
          <a:prstGeom prst="ellipse">
            <a:avLst/>
          </a:prstGeom>
          <a:solidFill>
            <a:srgbClr val="214BE0"/>
          </a:solidFill>
          <a:ln w="7620" cap="flat">
            <a:noFill/>
            <a:round/>
          </a:ln>
        </p:spPr>
      </p:sp>
      <p:sp>
        <p:nvSpPr>
          <p:cNvPr id="10" name="path"/>
          <p:cNvSpPr/>
          <p:nvPr/>
        </p:nvSpPr>
        <p:spPr>
          <a:xfrm>
            <a:off x="1974632" y="4277254"/>
            <a:ext cx="1915589" cy="542148"/>
          </a:xfrm>
          <a:custGeom>
            <a:avLst/>
            <a:gdLst/>
            <a:ahLst/>
            <a:cxnLst/>
            <a:rect l="0" t="0" r="r" b="b"/>
            <a:pathLst>
              <a:path w="251390" h="71148" fill="none" stroke="1" extrusionOk="0">
                <a:moveTo>
                  <a:pt x="0" y="71148"/>
                </a:moveTo>
                <a:lnTo>
                  <a:pt x="104350" y="71148"/>
                </a:lnTo>
                <a:quadBezTo>
                  <a:pt x="132810" y="71148"/>
                  <a:pt x="132810" y="37946"/>
                </a:quadBezTo>
                <a:lnTo>
                  <a:pt x="132810" y="0"/>
                </a:lnTo>
                <a:lnTo>
                  <a:pt x="251390" y="0"/>
                </a:lnTo>
              </a:path>
            </a:pathLst>
          </a:custGeom>
          <a:noFill/>
          <a:ln w="14457" cap="flat">
            <a:solidFill>
              <a:srgbClr val="C43E2D"/>
            </a:solidFill>
            <a:round/>
          </a:ln>
        </p:spPr>
      </p:sp>
      <p:sp>
        <p:nvSpPr>
          <p:cNvPr id="11" name="path"/>
          <p:cNvSpPr/>
          <p:nvPr/>
        </p:nvSpPr>
        <p:spPr>
          <a:xfrm>
            <a:off x="1974632" y="4819402"/>
            <a:ext cx="1915589" cy="7620"/>
          </a:xfrm>
          <a:custGeom>
            <a:avLst/>
            <a:gdLst/>
            <a:ahLst/>
            <a:cxnLst/>
            <a:rect l="0" t="0" r="r" b="b"/>
            <a:pathLst>
              <a:path w="251390" h="1000" fill="none" stroke="1" extrusionOk="0">
                <a:moveTo>
                  <a:pt x="0" y="0"/>
                </a:moveTo>
                <a:lnTo>
                  <a:pt x="251390" y="0"/>
                </a:lnTo>
              </a:path>
            </a:pathLst>
          </a:custGeom>
          <a:noFill/>
          <a:ln w="14457" cap="flat">
            <a:solidFill>
              <a:srgbClr val="C43E2D"/>
            </a:solidFill>
            <a:round/>
          </a:ln>
        </p:spPr>
      </p:sp>
      <p:sp>
        <p:nvSpPr>
          <p:cNvPr id="12" name="path"/>
          <p:cNvSpPr/>
          <p:nvPr/>
        </p:nvSpPr>
        <p:spPr>
          <a:xfrm>
            <a:off x="1974632" y="4819402"/>
            <a:ext cx="1915589" cy="578291"/>
          </a:xfrm>
          <a:custGeom>
            <a:avLst/>
            <a:gdLst/>
            <a:ahLst/>
            <a:cxnLst/>
            <a:rect l="0" t="0" r="r" b="b"/>
            <a:pathLst>
              <a:path w="251390" h="75891" fill="none" stroke="1" extrusionOk="0">
                <a:moveTo>
                  <a:pt x="0" y="0"/>
                </a:moveTo>
                <a:lnTo>
                  <a:pt x="104350" y="0"/>
                </a:lnTo>
                <a:quadBezTo>
                  <a:pt x="132810" y="0"/>
                  <a:pt x="132810" y="33202"/>
                </a:quadBezTo>
                <a:lnTo>
                  <a:pt x="132810" y="75891"/>
                </a:lnTo>
                <a:lnTo>
                  <a:pt x="251390" y="75891"/>
                </a:lnTo>
              </a:path>
            </a:pathLst>
          </a:custGeom>
          <a:noFill/>
          <a:ln w="14457" cap="flat">
            <a:solidFill>
              <a:srgbClr val="C43E2D"/>
            </a:solidFill>
            <a:round/>
          </a:ln>
        </p:spPr>
      </p:sp>
      <p:sp>
        <p:nvSpPr>
          <p:cNvPr id="13" name="circle"/>
          <p:cNvSpPr/>
          <p:nvPr/>
        </p:nvSpPr>
        <p:spPr>
          <a:xfrm>
            <a:off x="1403569" y="4479656"/>
            <a:ext cx="679492" cy="679492"/>
          </a:xfrm>
          <a:prstGeom prst="ellipse">
            <a:avLst/>
          </a:prstGeom>
          <a:solidFill>
            <a:srgbClr val="F8E7DF"/>
          </a:solidFill>
          <a:ln w="10843" cap="flat">
            <a:solidFill>
              <a:srgbClr val="C43E2D"/>
            </a:solidFill>
            <a:round/>
          </a:ln>
        </p:spPr>
      </p:sp>
      <p:sp>
        <p:nvSpPr>
          <p:cNvPr id="14" name="rect"/>
          <p:cNvSpPr/>
          <p:nvPr/>
        </p:nvSpPr>
        <p:spPr>
          <a:xfrm>
            <a:off x="1555371" y="4631457"/>
            <a:ext cx="375889" cy="375889"/>
          </a:xfrm>
          <a:prstGeom prst="roundRect">
            <a:avLst>
              <a:gd name="adj" fmla="val 9615"/>
            </a:avLst>
          </a:prstGeom>
          <a:noFill/>
          <a:ln w="18072" cap="flat">
            <a:solidFill>
              <a:srgbClr val="C43E2D"/>
            </a:solidFill>
            <a:round/>
          </a:ln>
        </p:spPr>
      </p:sp>
      <p:sp>
        <p:nvSpPr>
          <p:cNvPr id="15" name="rect"/>
          <p:cNvSpPr/>
          <p:nvPr/>
        </p:nvSpPr>
        <p:spPr>
          <a:xfrm>
            <a:off x="1649343" y="4725430"/>
            <a:ext cx="187945" cy="187945"/>
          </a:xfrm>
          <a:prstGeom prst="roundRect">
            <a:avLst>
              <a:gd name="adj" fmla="val 7692"/>
            </a:avLst>
          </a:prstGeom>
          <a:noFill/>
          <a:ln w="18072" cap="flat">
            <a:solidFill>
              <a:srgbClr val="C43E2D"/>
            </a:solidFill>
            <a:round/>
          </a:ln>
        </p:spPr>
      </p:sp>
      <p:sp>
        <p:nvSpPr>
          <p:cNvPr id="16" name="path"/>
          <p:cNvSpPr/>
          <p:nvPr/>
        </p:nvSpPr>
        <p:spPr>
          <a:xfrm>
            <a:off x="1497542" y="4573628"/>
            <a:ext cx="491547" cy="491547"/>
          </a:xfrm>
          <a:custGeom>
            <a:avLst/>
            <a:gdLst/>
            <a:ahLst/>
            <a:cxnLst/>
            <a:rect l="0" t="0" r="r" b="b"/>
            <a:pathLst>
              <a:path w="64508" h="64508" fill="none" stroke="1" extrusionOk="0">
                <a:moveTo>
                  <a:pt x="17076" y="0"/>
                </a:moveTo>
                <a:lnTo>
                  <a:pt x="17076" y="7589"/>
                </a:lnTo>
                <a:moveTo>
                  <a:pt x="32254" y="0"/>
                </a:moveTo>
                <a:lnTo>
                  <a:pt x="32254" y="7589"/>
                </a:lnTo>
                <a:moveTo>
                  <a:pt x="47432" y="0"/>
                </a:moveTo>
                <a:lnTo>
                  <a:pt x="47432" y="7589"/>
                </a:lnTo>
                <a:moveTo>
                  <a:pt x="17076" y="56918"/>
                </a:moveTo>
                <a:lnTo>
                  <a:pt x="17076" y="64508"/>
                </a:lnTo>
                <a:moveTo>
                  <a:pt x="32254" y="56918"/>
                </a:moveTo>
                <a:lnTo>
                  <a:pt x="32254" y="64508"/>
                </a:lnTo>
                <a:moveTo>
                  <a:pt x="47432" y="56918"/>
                </a:moveTo>
                <a:lnTo>
                  <a:pt x="47432" y="64508"/>
                </a:lnTo>
                <a:moveTo>
                  <a:pt x="0" y="17076"/>
                </a:moveTo>
                <a:lnTo>
                  <a:pt x="7589" y="17076"/>
                </a:lnTo>
                <a:moveTo>
                  <a:pt x="0" y="32254"/>
                </a:moveTo>
                <a:lnTo>
                  <a:pt x="7589" y="32254"/>
                </a:lnTo>
                <a:moveTo>
                  <a:pt x="0" y="47432"/>
                </a:moveTo>
                <a:lnTo>
                  <a:pt x="7589" y="47432"/>
                </a:lnTo>
                <a:moveTo>
                  <a:pt x="56918" y="17076"/>
                </a:moveTo>
                <a:lnTo>
                  <a:pt x="64508" y="17076"/>
                </a:lnTo>
                <a:moveTo>
                  <a:pt x="56918" y="32254"/>
                </a:moveTo>
                <a:lnTo>
                  <a:pt x="64508" y="32254"/>
                </a:lnTo>
                <a:moveTo>
                  <a:pt x="56918" y="47432"/>
                </a:moveTo>
                <a:lnTo>
                  <a:pt x="64508" y="47432"/>
                </a:lnTo>
              </a:path>
            </a:pathLst>
          </a:custGeom>
          <a:noFill/>
          <a:ln w="18072" cap="rnd">
            <a:solidFill>
              <a:srgbClr val="C43E2D"/>
            </a:solidFill>
            <a:round/>
          </a:ln>
        </p:spPr>
      </p:sp>
      <p:sp>
        <p:nvSpPr>
          <p:cNvPr id="17" name="path"/>
          <p:cNvSpPr/>
          <p:nvPr/>
        </p:nvSpPr>
        <p:spPr>
          <a:xfrm>
            <a:off x="3940821" y="4125453"/>
            <a:ext cx="303603" cy="289145"/>
          </a:xfrm>
          <a:custGeom>
            <a:avLst/>
            <a:gdLst/>
            <a:ahLst/>
            <a:cxnLst/>
            <a:rect l="0" t="0" r="r" b="b"/>
            <a:pathLst>
              <a:path w="39843" h="37946" fill="none" stroke="1" extrusionOk="0">
                <a:moveTo>
                  <a:pt x="0" y="37946"/>
                </a:moveTo>
                <a:lnTo>
                  <a:pt x="0" y="11384"/>
                </a:lnTo>
                <a:lnTo>
                  <a:pt x="15178" y="22767"/>
                </a:lnTo>
                <a:lnTo>
                  <a:pt x="15178" y="11384"/>
                </a:lnTo>
                <a:lnTo>
                  <a:pt x="30356" y="22767"/>
                </a:lnTo>
                <a:lnTo>
                  <a:pt x="30356" y="0"/>
                </a:lnTo>
                <a:lnTo>
                  <a:pt x="39843" y="0"/>
                </a:lnTo>
                <a:lnTo>
                  <a:pt x="39843" y="37946"/>
                </a:lnTo>
                <a:close/>
              </a:path>
            </a:pathLst>
          </a:custGeom>
          <a:noFill/>
          <a:ln w="14457" cap="rnd">
            <a:solidFill>
              <a:srgbClr val="20231F"/>
            </a:solidFill>
            <a:round/>
          </a:ln>
        </p:spPr>
      </p:sp>
      <p:sp>
        <p:nvSpPr>
          <p:cNvPr id="18" name="path"/>
          <p:cNvSpPr/>
          <p:nvPr/>
        </p:nvSpPr>
        <p:spPr>
          <a:xfrm>
            <a:off x="4005879" y="4349540"/>
            <a:ext cx="209630" cy="7620"/>
          </a:xfrm>
          <a:custGeom>
            <a:avLst/>
            <a:gdLst/>
            <a:ahLst/>
            <a:cxnLst/>
            <a:rect l="0" t="0" r="r" b="b"/>
            <a:pathLst>
              <a:path w="27511" h="1000" fill="none" stroke="1" extrusionOk="0">
                <a:moveTo>
                  <a:pt x="0" y="0"/>
                </a:moveTo>
                <a:lnTo>
                  <a:pt x="3795" y="0"/>
                </a:lnTo>
                <a:moveTo>
                  <a:pt x="12332" y="0"/>
                </a:moveTo>
                <a:lnTo>
                  <a:pt x="16127" y="0"/>
                </a:lnTo>
                <a:moveTo>
                  <a:pt x="23716" y="0"/>
                </a:moveTo>
                <a:lnTo>
                  <a:pt x="27511" y="0"/>
                </a:lnTo>
              </a:path>
            </a:pathLst>
          </a:custGeom>
          <a:noFill/>
          <a:ln w="14457" cap="rnd">
            <a:solidFill>
              <a:srgbClr val="20231F"/>
            </a:solidFill>
            <a:round/>
          </a:ln>
        </p:spPr>
      </p:sp>
      <p:sp>
        <p:nvSpPr>
          <p:cNvPr id="19" name="path"/>
          <p:cNvSpPr/>
          <p:nvPr/>
        </p:nvSpPr>
        <p:spPr>
          <a:xfrm>
            <a:off x="3940821" y="4660372"/>
            <a:ext cx="303603" cy="303603"/>
          </a:xfrm>
          <a:custGeom>
            <a:avLst/>
            <a:gdLst/>
            <a:ahLst/>
            <a:cxnLst/>
            <a:rect l="0" t="0" r="r" b="b"/>
            <a:pathLst>
              <a:path w="39843" h="39843" fill="none" stroke="1" extrusionOk="0">
                <a:moveTo>
                  <a:pt x="0" y="18024"/>
                </a:moveTo>
                <a:lnTo>
                  <a:pt x="19921" y="0"/>
                </a:lnTo>
                <a:lnTo>
                  <a:pt x="39843" y="18024"/>
                </a:lnTo>
                <a:moveTo>
                  <a:pt x="4743" y="15178"/>
                </a:moveTo>
                <a:lnTo>
                  <a:pt x="4743" y="39843"/>
                </a:lnTo>
                <a:lnTo>
                  <a:pt x="35100" y="39843"/>
                </a:lnTo>
                <a:lnTo>
                  <a:pt x="35100" y="15178"/>
                </a:lnTo>
                <a:moveTo>
                  <a:pt x="15178" y="39843"/>
                </a:moveTo>
                <a:lnTo>
                  <a:pt x="15178" y="25613"/>
                </a:lnTo>
                <a:lnTo>
                  <a:pt x="24665" y="25613"/>
                </a:lnTo>
                <a:lnTo>
                  <a:pt x="24665" y="39843"/>
                </a:lnTo>
              </a:path>
            </a:pathLst>
          </a:custGeom>
          <a:noFill/>
          <a:ln w="14457" cap="rnd">
            <a:solidFill>
              <a:srgbClr val="20231F"/>
            </a:solidFill>
            <a:round/>
          </a:ln>
        </p:spPr>
      </p:sp>
      <p:sp>
        <p:nvSpPr>
          <p:cNvPr id="20" name="path"/>
          <p:cNvSpPr/>
          <p:nvPr/>
        </p:nvSpPr>
        <p:spPr>
          <a:xfrm>
            <a:off x="3948049" y="5260349"/>
            <a:ext cx="289145" cy="289145"/>
          </a:xfrm>
          <a:custGeom>
            <a:avLst/>
            <a:gdLst/>
            <a:ahLst/>
            <a:cxnLst/>
            <a:rect l="0" t="0" r="r" b="b"/>
            <a:pathLst>
              <a:path w="37946" h="37946" fill="none" stroke="1" extrusionOk="0">
                <a:moveTo>
                  <a:pt x="0" y="25613"/>
                </a:moveTo>
                <a:lnTo>
                  <a:pt x="6640" y="6640"/>
                </a:lnTo>
                <a:lnTo>
                  <a:pt x="31305" y="6640"/>
                </a:lnTo>
                <a:lnTo>
                  <a:pt x="37946" y="25613"/>
                </a:lnTo>
                <a:lnTo>
                  <a:pt x="37946" y="37946"/>
                </a:lnTo>
                <a:lnTo>
                  <a:pt x="30356" y="37946"/>
                </a:lnTo>
                <a:lnTo>
                  <a:pt x="30356" y="31305"/>
                </a:lnTo>
                <a:lnTo>
                  <a:pt x="7589" y="31305"/>
                </a:lnTo>
                <a:lnTo>
                  <a:pt x="7589" y="37946"/>
                </a:lnTo>
                <a:lnTo>
                  <a:pt x="0" y="37946"/>
                </a:lnTo>
                <a:close/>
                <a:moveTo>
                  <a:pt x="0" y="25613"/>
                </a:moveTo>
                <a:lnTo>
                  <a:pt x="37946" y="25613"/>
                </a:lnTo>
                <a:moveTo>
                  <a:pt x="6640" y="6640"/>
                </a:moveTo>
                <a:lnTo>
                  <a:pt x="10435" y="0"/>
                </a:lnTo>
                <a:lnTo>
                  <a:pt x="27511" y="0"/>
                </a:lnTo>
                <a:lnTo>
                  <a:pt x="31305" y="6640"/>
                </a:lnTo>
                <a:moveTo>
                  <a:pt x="7589" y="26562"/>
                </a:moveTo>
                <a:lnTo>
                  <a:pt x="11384" y="26562"/>
                </a:lnTo>
                <a:moveTo>
                  <a:pt x="26562" y="26562"/>
                </a:moveTo>
                <a:lnTo>
                  <a:pt x="30356" y="26562"/>
                </a:lnTo>
              </a:path>
            </a:pathLst>
          </a:custGeom>
          <a:noFill/>
          <a:ln w="14457" cap="rnd">
            <a:solidFill>
              <a:srgbClr val="20231F"/>
            </a:solidFill>
            <a:round/>
          </a:ln>
        </p:spPr>
      </p:sp>
      <p:sp>
        <p:nvSpPr>
          <p:cNvPr id="21" name="Industrial control"/>
          <p:cNvSpPr txBox="1"/>
          <p:nvPr/>
        </p:nvSpPr>
        <p:spPr>
          <a:xfrm>
            <a:off x="4396225" y="4183466"/>
            <a:ext cx="1196340" cy="236220"/>
          </a:xfrm>
          <a:prstGeom prst="rect">
            <a:avLst/>
          </a:prstGeom>
          <a:noFill/>
          <a:ln w="7620" cap="flat">
            <a:noFill/>
            <a:round/>
          </a:ln>
        </p:spPr>
        <p:txBody>
          <a:bodyPr wrap="none" lIns="0" rIns="0" tIns="0" bIns="0" anchor="t" rtlCol="0">
            <a:noAutofit/>
          </a:bodyPr>
          <a:lstStyle/>
          <a:p>
            <a:pPr marL="0" indent="0" algn="l" fontAlgn="base">
              <a:lnSpc>
                <a:spcPts val="1298"/>
              </a:lnSpc>
              <a:spcBef>
                <a:spcPts val="0"/>
              </a:spcBef>
              <a:spcAft>
                <a:spcPts val="0"/>
              </a:spcAft>
              <a:buNone/>
            </a:pPr>
            <a:r>
              <a:rPr lang="en-AU" sz="1081" b="0" spc="0" dirty="0">
                <a:solidFill>
                  <a:srgbClr val="20231F"/>
                </a:solidFill>
                <a:latin typeface="Space Grotesk"/>
                <a:ea typeface="Space Grotesk"/>
                <a:cs typeface="Space Grotesk"/>
              </a:rPr>
              <a:t xml:space="preserve">Industrial control</a:t>
            </a:r>
            <a:endParaRPr lang="en-AU" sz="1081"/>
          </a:p>
        </p:txBody>
      </p:sp>
      <p:sp>
        <p:nvSpPr>
          <p:cNvPr id="22" name="Smart homes"/>
          <p:cNvSpPr txBox="1"/>
          <p:nvPr/>
        </p:nvSpPr>
        <p:spPr>
          <a:xfrm>
            <a:off x="4396225" y="4740071"/>
            <a:ext cx="944880" cy="236220"/>
          </a:xfrm>
          <a:prstGeom prst="rect">
            <a:avLst/>
          </a:prstGeom>
          <a:noFill/>
          <a:ln w="7620" cap="flat">
            <a:noFill/>
            <a:round/>
          </a:ln>
        </p:spPr>
        <p:txBody>
          <a:bodyPr wrap="none" lIns="0" rIns="0" tIns="0" bIns="0" anchor="t" rtlCol="0">
            <a:noAutofit/>
          </a:bodyPr>
          <a:lstStyle/>
          <a:p>
            <a:pPr marL="0" indent="0" algn="l" fontAlgn="base">
              <a:lnSpc>
                <a:spcPts val="1298"/>
              </a:lnSpc>
              <a:spcBef>
                <a:spcPts val="0"/>
              </a:spcBef>
              <a:spcAft>
                <a:spcPts val="0"/>
              </a:spcAft>
              <a:buNone/>
            </a:pPr>
            <a:r>
              <a:rPr lang="en-AU" sz="1081" b="0" spc="0" dirty="0">
                <a:solidFill>
                  <a:srgbClr val="20231F"/>
                </a:solidFill>
                <a:latin typeface="Space Grotesk"/>
                <a:ea typeface="Space Grotesk"/>
                <a:cs typeface="Space Grotesk"/>
              </a:rPr>
              <a:t xml:space="preserve">Smart homes</a:t>
            </a:r>
            <a:endParaRPr lang="en-AU" sz="1081"/>
          </a:p>
        </p:txBody>
      </p:sp>
      <p:sp>
        <p:nvSpPr>
          <p:cNvPr id="23" name="Autonomous systems"/>
          <p:cNvSpPr txBox="1"/>
          <p:nvPr/>
        </p:nvSpPr>
        <p:spPr>
          <a:xfrm>
            <a:off x="4396225" y="5332819"/>
            <a:ext cx="1524000" cy="236220"/>
          </a:xfrm>
          <a:prstGeom prst="rect">
            <a:avLst/>
          </a:prstGeom>
          <a:noFill/>
          <a:ln w="7620" cap="flat">
            <a:noFill/>
            <a:round/>
          </a:ln>
        </p:spPr>
        <p:txBody>
          <a:bodyPr wrap="none" lIns="0" rIns="0" tIns="0" bIns="0" anchor="t" rtlCol="0">
            <a:noAutofit/>
          </a:bodyPr>
          <a:lstStyle/>
          <a:p>
            <a:pPr marL="0" indent="0" algn="l" fontAlgn="base">
              <a:lnSpc>
                <a:spcPts val="1298"/>
              </a:lnSpc>
              <a:spcBef>
                <a:spcPts val="0"/>
              </a:spcBef>
              <a:spcAft>
                <a:spcPts val="0"/>
              </a:spcAft>
              <a:buNone/>
            </a:pPr>
            <a:r>
              <a:rPr lang="en-AU" sz="1081" b="0" spc="0" dirty="0">
                <a:solidFill>
                  <a:srgbClr val="20231F"/>
                </a:solidFill>
                <a:latin typeface="Space Grotesk"/>
                <a:ea typeface="Space Grotesk"/>
                <a:cs typeface="Space Grotesk"/>
              </a:rPr>
              <a:t xml:space="preserve">Autonomous systems</a:t>
            </a:r>
            <a:endParaRPr lang="en-AU" sz="1081"/>
          </a:p>
        </p:txBody>
      </p:sp>
      <p:sp>
        <p:nvSpPr>
          <p:cNvPr id="24" name="Changed device"/>
          <p:cNvSpPr txBox="1"/>
          <p:nvPr/>
        </p:nvSpPr>
        <p:spPr>
          <a:xfrm>
            <a:off x="1273454" y="5355288"/>
            <a:ext cx="1021080" cy="220980"/>
          </a:xfrm>
          <a:prstGeom prst="rect">
            <a:avLst/>
          </a:prstGeom>
          <a:noFill/>
          <a:ln w="7620" cap="flat">
            <a:noFill/>
            <a:round/>
          </a:ln>
        </p:spPr>
        <p:txBody>
          <a:bodyPr wrap="none" lIns="0" rIns="0" tIns="0" bIns="0" anchor="t" rtlCol="0">
            <a:noAutofit/>
          </a:bodyPr>
          <a:lstStyle/>
          <a:p>
            <a:pPr marL="0" indent="0" algn="l" fontAlgn="base">
              <a:lnSpc>
                <a:spcPts val="1161"/>
              </a:lnSpc>
              <a:spcBef>
                <a:spcPts val="0"/>
              </a:spcBef>
              <a:spcAft>
                <a:spcPts val="0"/>
              </a:spcAft>
              <a:buNone/>
            </a:pPr>
            <a:r>
              <a:rPr lang="en-AU" sz="968" b="0" spc="0" dirty="0">
                <a:solidFill>
                  <a:srgbClr val="C43E2D"/>
                </a:solidFill>
                <a:latin typeface="Space Grotesk"/>
                <a:ea typeface="Space Grotesk"/>
                <a:cs typeface="Space Grotesk"/>
              </a:rPr>
              <a:t xml:space="preserve">Changed device</a:t>
            </a:r>
            <a:endParaRPr lang="en-AU" sz="968"/>
          </a:p>
        </p:txBody>
      </p:sp>
      <p:sp>
        <p:nvSpPr>
          <p:cNvPr id="25" name="circle"/>
          <p:cNvSpPr/>
          <p:nvPr/>
        </p:nvSpPr>
        <p:spPr>
          <a:xfrm>
            <a:off x="2937336" y="4639558"/>
            <a:ext cx="72286" cy="72286"/>
          </a:xfrm>
          <a:prstGeom prst="ellipse">
            <a:avLst/>
          </a:prstGeom>
          <a:solidFill>
            <a:srgbClr val="C43E2D"/>
          </a:solidFill>
          <a:ln w="7229" cap="flat">
            <a:noFill/>
            <a:round/>
          </a:ln>
        </p:spPr>
      </p:sp>
      <p:sp>
        <p:nvSpPr>
          <p:cNvPr id="26" name="circle"/>
          <p:cNvSpPr/>
          <p:nvPr/>
        </p:nvSpPr>
        <p:spPr>
          <a:xfrm>
            <a:off x="2800503" y="4783259"/>
            <a:ext cx="72286" cy="72286"/>
          </a:xfrm>
          <a:prstGeom prst="ellipse">
            <a:avLst/>
          </a:prstGeom>
          <a:solidFill>
            <a:srgbClr val="C43E2D"/>
          </a:solidFill>
          <a:ln w="7229" cap="flat">
            <a:noFill/>
            <a:round/>
          </a:ln>
        </p:spPr>
      </p:sp>
      <p:sp>
        <p:nvSpPr>
          <p:cNvPr id="27" name="circle"/>
          <p:cNvSpPr/>
          <p:nvPr/>
        </p:nvSpPr>
        <p:spPr>
          <a:xfrm>
            <a:off x="2941156" y="4942140"/>
            <a:ext cx="72286" cy="72286"/>
          </a:xfrm>
          <a:prstGeom prst="ellipse">
            <a:avLst/>
          </a:prstGeom>
          <a:solidFill>
            <a:srgbClr val="C43E2D"/>
          </a:solidFill>
          <a:ln w="7229" cap="flat">
            <a:noFill/>
            <a:round/>
          </a:ln>
        </p:spPr>
      </p:sp>
      <p:sp>
        <p:nvSpPr>
          <p:cNvPr id="28" name="stat-row bottom"/>
          <p:cNvSpPr/>
          <p:nvPr/>
        </p:nvSpPr>
        <p:spPr>
          <a:xfrm>
            <a:off x="6342431" y="2844427"/>
            <a:ext cx="5219852" cy="7620"/>
          </a:xfrm>
          <a:custGeom>
            <a:avLst/>
            <a:gdLst/>
            <a:ahLst/>
            <a:cxnLst/>
            <a:rect l="0" t="0" r="r" b="b"/>
            <a:pathLst>
              <a:path w="685020" h="1000" fill="none" stroke="1" extrusionOk="0">
                <a:moveTo>
                  <a:pt x="0" y="0"/>
                </a:moveTo>
                <a:lnTo>
                  <a:pt x="685020" y="0"/>
                </a:lnTo>
              </a:path>
            </a:pathLst>
          </a:custGeom>
          <a:noFill/>
          <a:ln w="7468" cap="flat">
            <a:solidFill>
              <a:srgbClr val="D2D3C8"/>
            </a:solidFill>
            <a:round/>
          </a:ln>
        </p:spPr>
      </p:sp>
      <p:sp>
        <p:nvSpPr>
          <p:cNvPr id="29" name="stat-value"/>
          <p:cNvSpPr txBox="1"/>
          <p:nvPr/>
        </p:nvSpPr>
        <p:spPr>
          <a:xfrm>
            <a:off x="6483382" y="1492791"/>
            <a:ext cx="1234307" cy="1360322"/>
          </a:xfrm>
          <a:prstGeom prst="rect">
            <a:avLst/>
          </a:prstGeom>
          <a:noFill/>
          <a:ln w="7620" cap="flat">
            <a:noFill/>
            <a:round/>
          </a:ln>
        </p:spPr>
        <p:txBody>
          <a:bodyPr wrap="none" lIns="0" rIns="0" tIns="0" bIns="0" anchor="t" rtlCol="0">
            <a:noAutofit/>
          </a:bodyPr>
          <a:lstStyle/>
          <a:p>
            <a:pPr marL="0" indent="0" algn="l" fontAlgn="base">
              <a:lnSpc>
                <a:spcPts val="7997"/>
              </a:lnSpc>
              <a:spcBef>
                <a:spcPts val="0"/>
              </a:spcBef>
              <a:spcAft>
                <a:spcPts val="0"/>
              </a:spcAft>
              <a:buNone/>
            </a:pPr>
            <a:r>
              <a:rPr lang="en-AU" sz="7997" b="1" spc="-320" dirty="0">
                <a:solidFill>
                  <a:srgbClr val="214BE0"/>
                </a:solidFill>
                <a:latin typeface="Space Grotesk"/>
                <a:ea typeface="Space Grotesk"/>
                <a:cs typeface="Space Grotesk"/>
              </a:rPr>
              <a:t xml:space="preserve">56</a:t>
            </a:r>
            <a:endParaRPr lang="en-AU" sz="7997"/>
          </a:p>
        </p:txBody>
      </p:sp>
      <p:sp>
        <p:nvSpPr>
          <p:cNvPr id="30" name="stat-percent"/>
          <p:cNvSpPr txBox="1"/>
          <p:nvPr/>
        </p:nvSpPr>
        <p:spPr>
          <a:xfrm>
            <a:off x="7679131" y="1686949"/>
            <a:ext cx="356397" cy="621030"/>
          </a:xfrm>
          <a:prstGeom prst="rect">
            <a:avLst/>
          </a:prstGeom>
          <a:noFill/>
          <a:ln w="7620" cap="flat">
            <a:noFill/>
            <a:round/>
          </a:ln>
        </p:spPr>
        <p:txBody>
          <a:bodyPr wrap="none" lIns="0" rIns="0" tIns="0" bIns="0" anchor="t" rtlCol="0">
            <a:noAutofit/>
          </a:bodyPr>
          <a:lstStyle/>
          <a:p>
            <a:pPr marL="0" indent="0" algn="l" fontAlgn="base">
              <a:lnSpc>
                <a:spcPts val="3469"/>
              </a:lnSpc>
              <a:spcBef>
                <a:spcPts val="0"/>
              </a:spcBef>
              <a:spcAft>
                <a:spcPts val="0"/>
              </a:spcAft>
              <a:buNone/>
            </a:pPr>
            <a:r>
              <a:rPr lang="en-AU" sz="3469" b="1" spc="-320" dirty="0">
                <a:solidFill>
                  <a:srgbClr val="214BE0"/>
                </a:solidFill>
                <a:latin typeface="Space Grotesk"/>
                <a:ea typeface="Space Grotesk"/>
                <a:cs typeface="Space Grotesk"/>
              </a:rPr>
              <a:t xml:space="preserve">%</a:t>
            </a:r>
            <a:endParaRPr lang="en-AU" sz="3469"/>
          </a:p>
        </p:txBody>
      </p:sp>
      <p:sp>
        <p:nvSpPr>
          <p:cNvPr id="31" name="P"/>
          <p:cNvSpPr txBox="1"/>
          <p:nvPr/>
        </p:nvSpPr>
        <p:spPr>
          <a:xfrm>
            <a:off x="8191129" y="1873639"/>
            <a:ext cx="1925642" cy="591160"/>
          </a:xfrm>
          <a:prstGeom prst="rect">
            <a:avLst/>
          </a:prstGeom>
          <a:noFill/>
          <a:ln w="7620" cap="flat">
            <a:noFill/>
            <a:round/>
          </a:ln>
        </p:spPr>
        <p:txBody>
          <a:bodyPr wrap="none" lIns="0" rIns="0" tIns="0" bIns="0" anchor="t" rtlCol="0">
            <a:noAutofit/>
          </a:bodyPr>
          <a:lstStyle/>
          <a:p>
            <a:pPr marL="0" indent="0" algn="l" fontAlgn="base">
              <a:lnSpc>
                <a:spcPts val="2058"/>
              </a:lnSpc>
              <a:spcBef>
                <a:spcPts val="0"/>
              </a:spcBef>
              <a:spcAft>
                <a:spcPts val="0"/>
              </a:spcAft>
              <a:buNone/>
            </a:pPr>
            <a:r>
              <a:rPr lang="en-AU" sz="1646" b="0" spc="-41" dirty="0">
                <a:solidFill>
                  <a:srgbClr val="20231F"/>
                </a:solidFill>
                <a:latin typeface="Space Grotesk"/>
                <a:ea typeface="Space Grotesk"/>
                <a:cs typeface="Space Grotesk"/>
              </a:rPr>
              <a:t xml:space="preserve">cannot see below</a:t>
            </a:r>
            <a:endParaRPr lang="en-AU" sz="1646"/>
          </a:p>
          <a:p>
            <a:pPr marL="0" indent="0" algn="l" fontAlgn="base">
              <a:lnSpc>
                <a:spcPts val="2058"/>
              </a:lnSpc>
              <a:spcBef>
                <a:spcPts val="0"/>
              </a:spcBef>
              <a:spcAft>
                <a:spcPts val="0"/>
              </a:spcAft>
              <a:buNone/>
            </a:pPr>
            <a:r>
              <a:rPr lang="en-AU" sz="1646" b="0" spc="-41" dirty="0">
                <a:solidFill>
                  <a:srgbClr val="20231F"/>
                </a:solidFill>
                <a:latin typeface="Space Grotesk"/>
                <a:ea typeface="Space Grotesk"/>
                <a:cs typeface="Space Grotesk"/>
              </a:rPr>
              <a:t xml:space="preserve">the IT/OT boundary.</a:t>
            </a:r>
            <a:endParaRPr lang="en-AU" sz="1646"/>
          </a:p>
        </p:txBody>
      </p:sp>
      <p:sp>
        <p:nvSpPr>
          <p:cNvPr id="32" name="stat-row bottom"/>
          <p:cNvSpPr/>
          <p:nvPr/>
        </p:nvSpPr>
        <p:spPr>
          <a:xfrm>
            <a:off x="6342431" y="4181128"/>
            <a:ext cx="5219852" cy="7620"/>
          </a:xfrm>
          <a:custGeom>
            <a:avLst/>
            <a:gdLst/>
            <a:ahLst/>
            <a:cxnLst/>
            <a:rect l="0" t="0" r="r" b="b"/>
            <a:pathLst>
              <a:path w="685020" h="1000" fill="none" stroke="1" extrusionOk="0">
                <a:moveTo>
                  <a:pt x="0" y="0"/>
                </a:moveTo>
                <a:lnTo>
                  <a:pt x="685020" y="0"/>
                </a:lnTo>
              </a:path>
            </a:pathLst>
          </a:custGeom>
          <a:noFill/>
          <a:ln w="7468" cap="flat">
            <a:solidFill>
              <a:srgbClr val="D2D3C8"/>
            </a:solidFill>
            <a:round/>
          </a:ln>
        </p:spPr>
      </p:sp>
      <p:sp>
        <p:nvSpPr>
          <p:cNvPr id="33" name="stat-value"/>
          <p:cNvSpPr txBox="1"/>
          <p:nvPr/>
        </p:nvSpPr>
        <p:spPr>
          <a:xfrm>
            <a:off x="6483382" y="2829492"/>
            <a:ext cx="1234307" cy="1360322"/>
          </a:xfrm>
          <a:prstGeom prst="rect">
            <a:avLst/>
          </a:prstGeom>
          <a:noFill/>
          <a:ln w="7620" cap="flat">
            <a:noFill/>
            <a:round/>
          </a:ln>
        </p:spPr>
        <p:txBody>
          <a:bodyPr wrap="none" lIns="0" rIns="0" tIns="0" bIns="0" anchor="t" rtlCol="0">
            <a:noAutofit/>
          </a:bodyPr>
          <a:lstStyle/>
          <a:p>
            <a:pPr marL="0" indent="0" algn="l" fontAlgn="base">
              <a:lnSpc>
                <a:spcPts val="7997"/>
              </a:lnSpc>
              <a:spcBef>
                <a:spcPts val="0"/>
              </a:spcBef>
              <a:spcAft>
                <a:spcPts val="0"/>
              </a:spcAft>
              <a:buNone/>
            </a:pPr>
            <a:r>
              <a:rPr lang="en-AU" sz="7997" b="1" spc="-320" dirty="0">
                <a:solidFill>
                  <a:srgbClr val="214BE0"/>
                </a:solidFill>
                <a:latin typeface="Space Grotesk"/>
                <a:ea typeface="Space Grotesk"/>
                <a:cs typeface="Space Grotesk"/>
              </a:rPr>
              <a:t xml:space="preserve">88</a:t>
            </a:r>
            <a:endParaRPr lang="en-AU" sz="7997"/>
          </a:p>
        </p:txBody>
      </p:sp>
      <p:sp>
        <p:nvSpPr>
          <p:cNvPr id="34" name="stat-percent"/>
          <p:cNvSpPr txBox="1"/>
          <p:nvPr/>
        </p:nvSpPr>
        <p:spPr>
          <a:xfrm>
            <a:off x="7679131" y="3023649"/>
            <a:ext cx="356397" cy="621030"/>
          </a:xfrm>
          <a:prstGeom prst="rect">
            <a:avLst/>
          </a:prstGeom>
          <a:noFill/>
          <a:ln w="7620" cap="flat">
            <a:noFill/>
            <a:round/>
          </a:ln>
        </p:spPr>
        <p:txBody>
          <a:bodyPr wrap="none" lIns="0" rIns="0" tIns="0" bIns="0" anchor="t" rtlCol="0">
            <a:noAutofit/>
          </a:bodyPr>
          <a:lstStyle/>
          <a:p>
            <a:pPr marL="0" indent="0" algn="l" fontAlgn="base">
              <a:lnSpc>
                <a:spcPts val="3469"/>
              </a:lnSpc>
              <a:spcBef>
                <a:spcPts val="0"/>
              </a:spcBef>
              <a:spcAft>
                <a:spcPts val="0"/>
              </a:spcAft>
              <a:buNone/>
            </a:pPr>
            <a:r>
              <a:rPr lang="en-AU" sz="3469" b="1" spc="-320" dirty="0">
                <a:solidFill>
                  <a:srgbClr val="214BE0"/>
                </a:solidFill>
                <a:latin typeface="Space Grotesk"/>
                <a:ea typeface="Space Grotesk"/>
                <a:cs typeface="Space Grotesk"/>
              </a:rPr>
              <a:t xml:space="preserve">%</a:t>
            </a:r>
            <a:endParaRPr lang="en-AU" sz="3469"/>
          </a:p>
        </p:txBody>
      </p:sp>
      <p:sp>
        <p:nvSpPr>
          <p:cNvPr id="35" name="P"/>
          <p:cNvSpPr txBox="1"/>
          <p:nvPr/>
        </p:nvSpPr>
        <p:spPr>
          <a:xfrm>
            <a:off x="8191129" y="3210339"/>
            <a:ext cx="2345345" cy="591160"/>
          </a:xfrm>
          <a:prstGeom prst="rect">
            <a:avLst/>
          </a:prstGeom>
          <a:noFill/>
          <a:ln w="7620" cap="flat">
            <a:noFill/>
            <a:round/>
          </a:ln>
        </p:spPr>
        <p:txBody>
          <a:bodyPr wrap="none" lIns="0" rIns="0" tIns="0" bIns="0" anchor="t" rtlCol="0">
            <a:noAutofit/>
          </a:bodyPr>
          <a:lstStyle/>
          <a:p>
            <a:pPr marL="0" indent="0" algn="l" fontAlgn="base">
              <a:lnSpc>
                <a:spcPts val="2058"/>
              </a:lnSpc>
              <a:spcBef>
                <a:spcPts val="0"/>
              </a:spcBef>
              <a:spcAft>
                <a:spcPts val="0"/>
              </a:spcAft>
              <a:buNone/>
            </a:pPr>
            <a:r>
              <a:rPr lang="en-AU" sz="1646" b="0" spc="-41" dirty="0">
                <a:solidFill>
                  <a:srgbClr val="20231F"/>
                </a:solidFill>
                <a:latin typeface="Space Grotesk"/>
                <a:ea typeface="Space Grotesk"/>
                <a:cs typeface="Space Grotesk"/>
              </a:rPr>
              <a:t xml:space="preserve">struggle with detection</a:t>
            </a:r>
            <a:endParaRPr lang="en-AU" sz="1646"/>
          </a:p>
          <a:p>
            <a:pPr marL="0" indent="0" algn="l" fontAlgn="base">
              <a:lnSpc>
                <a:spcPts val="2058"/>
              </a:lnSpc>
              <a:spcBef>
                <a:spcPts val="0"/>
              </a:spcBef>
              <a:spcAft>
                <a:spcPts val="0"/>
              </a:spcAft>
              <a:buNone/>
            </a:pPr>
            <a:r>
              <a:rPr lang="en-AU" sz="1646" b="0" spc="-41" dirty="0">
                <a:solidFill>
                  <a:srgbClr val="20231F"/>
                </a:solidFill>
                <a:latin typeface="Space Grotesk"/>
                <a:ea typeface="Space Grotesk"/>
                <a:cs typeface="Space Grotesk"/>
              </a:rPr>
              <a:t xml:space="preserve">and response.</a:t>
            </a:r>
            <a:endParaRPr lang="en-AU" sz="1646"/>
          </a:p>
        </p:txBody>
      </p:sp>
      <p:sp>
        <p:nvSpPr>
          <p:cNvPr id="36" name="source-context"/>
          <p:cNvSpPr txBox="1"/>
          <p:nvPr/>
        </p:nvSpPr>
        <p:spPr>
          <a:xfrm>
            <a:off x="6342431" y="4390220"/>
            <a:ext cx="3585667" cy="427573"/>
          </a:xfrm>
          <a:prstGeom prst="rect">
            <a:avLst/>
          </a:prstGeom>
          <a:noFill/>
          <a:ln w="7620" cap="flat">
            <a:noFill/>
            <a:round/>
          </a:ln>
        </p:spPr>
        <p:txBody>
          <a:bodyPr wrap="none" lIns="0" rIns="0" tIns="0" bIns="0" anchor="t" rtlCol="0">
            <a:noAutofit/>
          </a:bodyPr>
          <a:lstStyle/>
          <a:p>
            <a:pPr marL="0" indent="0" algn="l" fontAlgn="base">
              <a:lnSpc>
                <a:spcPts val="1534"/>
              </a:lnSpc>
              <a:spcBef>
                <a:spcPts val="0"/>
              </a:spcBef>
              <a:spcAft>
                <a:spcPts val="0"/>
              </a:spcAft>
              <a:buNone/>
            </a:pPr>
            <a:r>
              <a:rPr lang="en-AU" sz="1058" b="0" spc="0" dirty="0">
                <a:solidFill>
                  <a:srgbClr val="60645B"/>
                </a:solidFill>
                <a:latin typeface="Space Grotesk"/>
                <a:ea typeface="Space Grotesk"/>
                <a:cs typeface="Space Grotesk"/>
              </a:rPr>
              <a:t xml:space="preserve">Findings from Dragos’s OT assessments and exercises;</a:t>
            </a:r>
            <a:endParaRPr lang="en-AU" sz="1058"/>
          </a:p>
          <a:p>
            <a:pPr marL="0" indent="0" algn="l" fontAlgn="base">
              <a:lnSpc>
                <a:spcPts val="1535"/>
              </a:lnSpc>
              <a:spcBef>
                <a:spcPts val="0"/>
              </a:spcBef>
              <a:spcAft>
                <a:spcPts val="0"/>
              </a:spcAft>
              <a:buNone/>
            </a:pPr>
            <a:r>
              <a:rPr lang="en-AU" sz="1058" b="0" spc="0" dirty="0">
                <a:solidFill>
                  <a:srgbClr val="60645B"/>
                </a:solidFill>
                <a:latin typeface="Space Grotesk"/>
                <a:ea typeface="Space Grotesk"/>
                <a:cs typeface="Space Grotesk"/>
              </a:rPr>
              <a:t xml:space="preserve">not a survey of all ICS owners.</a:t>
            </a:r>
            <a:endParaRPr lang="en-AU" sz="1058"/>
          </a:p>
        </p:txBody>
      </p:sp>
      <p:sp>
        <p:nvSpPr>
          <p:cNvPr id="37" name="source"/>
          <p:cNvSpPr txBox="1"/>
          <p:nvPr/>
        </p:nvSpPr>
        <p:spPr>
          <a:xfrm>
            <a:off x="6342431" y="4847144"/>
            <a:ext cx="3137611" cy="202844"/>
          </a:xfrm>
          <a:prstGeom prst="rect">
            <a:avLst/>
          </a:prstGeom>
          <a:noFill/>
          <a:ln w="7620" cap="flat">
            <a:noFill/>
            <a:round/>
          </a:ln>
        </p:spPr>
        <p:txBody>
          <a:bodyPr wrap="none" lIns="0" rIns="0" tIns="0" bIns="0" anchor="t" rtlCol="0">
            <a:noAutofit/>
          </a:bodyPr>
          <a:lstStyle/>
          <a:p>
            <a:pPr marL="0" indent="0" algn="l" fontAlgn="base">
              <a:lnSpc>
                <a:spcPts val="882"/>
              </a:lnSpc>
              <a:spcBef>
                <a:spcPts val="0"/>
              </a:spcBef>
              <a:spcAft>
                <a:spcPts val="0"/>
              </a:spcAft>
              <a:buNone/>
            </a:pPr>
            <a:r>
              <a:rPr lang="en-AU" sz="882" b="0" spc="0" dirty="0">
                <a:solidFill>
                  <a:srgbClr val="60645B"/>
                </a:solidFill>
                <a:latin typeface="Space Grotesk"/>
                <a:ea typeface="Space Grotesk"/>
                <a:cs typeface="Space Grotesk"/>
              </a:rPr>
              <a:t xml:space="preserve">Source: Dragos · 2026 OT Cybersecurity Year in Review ↗</a:t>
            </a:r>
            <a:endParaRPr lang="en-AU" sz="882"/>
          </a:p>
        </p:txBody>
      </p:sp>
      <p:sp>
        <p:nvSpPr>
          <p:cNvPr id="38" name="slide-footer top"/>
          <p:cNvSpPr/>
          <p:nvPr/>
        </p:nvSpPr>
        <p:spPr>
          <a:xfrm>
            <a:off x="629717" y="5926212"/>
            <a:ext cx="10932566" cy="7620"/>
          </a:xfrm>
          <a:custGeom>
            <a:avLst/>
            <a:gdLst/>
            <a:ahLst/>
            <a:cxnLst/>
            <a:rect l="0" t="0" r="r" b="b"/>
            <a:pathLst>
              <a:path w="1434720" h="1000" fill="none" stroke="1" extrusionOk="0">
                <a:moveTo>
                  <a:pt x="0" y="0"/>
                </a:moveTo>
                <a:lnTo>
                  <a:pt x="1434720" y="0"/>
                </a:lnTo>
              </a:path>
            </a:pathLst>
          </a:custGeom>
          <a:noFill/>
          <a:ln w="7468" cap="flat">
            <a:solidFill>
              <a:srgbClr val="20231F"/>
            </a:solidFill>
            <a:round/>
          </a:ln>
        </p:spPr>
      </p:sp>
      <p:sp>
        <p:nvSpPr>
          <p:cNvPr id="39" name="P"/>
          <p:cNvSpPr txBox="1"/>
          <p:nvPr/>
        </p:nvSpPr>
        <p:spPr>
          <a:xfrm>
            <a:off x="629717" y="6083032"/>
            <a:ext cx="5698998" cy="270053"/>
          </a:xfrm>
          <a:prstGeom prst="rect">
            <a:avLst/>
          </a:prstGeom>
          <a:noFill/>
          <a:ln w="7620" cap="flat">
            <a:noFill/>
            <a:round/>
          </a:ln>
        </p:spPr>
        <p:txBody>
          <a:bodyPr wrap="none" lIns="0" rIns="0" tIns="0" bIns="0" anchor="t" rtlCol="0">
            <a:noAutofit/>
          </a:bodyPr>
          <a:lstStyle/>
          <a:p>
            <a:pPr marL="0" indent="0" algn="l" fontAlgn="base">
              <a:lnSpc>
                <a:spcPts val="1682"/>
              </a:lnSpc>
              <a:spcBef>
                <a:spcPts val="0"/>
              </a:spcBef>
              <a:spcAft>
                <a:spcPts val="0"/>
              </a:spcAft>
              <a:buNone/>
            </a:pPr>
            <a:r>
              <a:rPr lang="en-AU" sz="1294" b="0" spc="0" dirty="0">
                <a:solidFill>
                  <a:srgbClr val="20231F"/>
                </a:solidFill>
                <a:latin typeface="Space Grotesk"/>
                <a:ea typeface="Space Grotesk"/>
                <a:cs typeface="Space Grotesk"/>
              </a:rPr>
              <a:t xml:space="preserve">CyberScope asks: </a:t>
            </a:r>
            <a:r>
              <a:rPr lang="en-AU" sz="1294" b="1" spc="0" dirty="0">
                <a:solidFill>
                  <a:srgbClr val="20231F"/>
                </a:solidFill>
                <a:latin typeface="Space Grotesk"/>
                <a:ea typeface="Space Grotesk"/>
                <a:cs typeface="Space Grotesk"/>
              </a:rPr>
              <a:t xml:space="preserve">has this device moved away from its trusted state?</a:t>
            </a:r>
            <a:endParaRPr lang="en-AU" sz="1294"/>
          </a:p>
        </p:txBody>
      </p:sp>
      <p:sp>
        <p:nvSpPr>
          <p:cNvPr id="40" name="SPAN"/>
          <p:cNvSpPr txBox="1"/>
          <p:nvPr/>
        </p:nvSpPr>
        <p:spPr>
          <a:xfrm>
            <a:off x="10016490" y="6103918"/>
            <a:ext cx="1606753" cy="225247"/>
          </a:xfrm>
          <a:prstGeom prst="rect">
            <a:avLst/>
          </a:prstGeom>
          <a:noFill/>
          <a:ln w="7620" cap="flat">
            <a:noFill/>
            <a:round/>
          </a:ln>
        </p:spPr>
        <p:txBody>
          <a:bodyPr wrap="none" lIns="0" rIns="0" tIns="0" bIns="0" anchor="t" rtlCol="0">
            <a:noAutofit/>
          </a:bodyPr>
          <a:lstStyle/>
          <a:p>
            <a:pPr marL="0" indent="0" algn="l" fontAlgn="base">
              <a:lnSpc>
                <a:spcPts val="1000"/>
              </a:lnSpc>
              <a:spcBef>
                <a:spcPts val="0"/>
              </a:spcBef>
              <a:spcAft>
                <a:spcPts val="0"/>
              </a:spcAft>
              <a:buNone/>
            </a:pPr>
            <a:r>
              <a:rPr lang="en-AU" sz="1000" b="0" spc="0" dirty="0">
                <a:solidFill>
                  <a:srgbClr val="60645B"/>
                </a:solidFill>
                <a:latin typeface="Space Grotesk"/>
                <a:ea typeface="Space Grotesk"/>
                <a:cs typeface="Space Grotesk"/>
              </a:rPr>
              <a:t xml:space="preserve">Problem / Method / Demo</a:t>
            </a:r>
            <a:endParaRPr lang="en-AU" sz="1000"/>
          </a:p>
        </p:txBody>
      </p:sp>
    </p:spTree>
  </p:cSld>
  <p:clrMapOvr>
    <a:masterClrMapping/>
  </p:clrMapOvr>
</p:sld>
</file>

<file path=ppt/slides/slide3.xml><?xml version="1.0" encoding="utf-8"?>
<p:sld xmlns:a="http://schemas.openxmlformats.org/drawingml/2006/main" xmlns:p="http://schemas.openxmlformats.org/presentationml/2006/main">
  <p:cSld name="Design &amp; methodology.">
    <p:bg>
      <p:bgPr>
        <a:solidFill>
          <a:srgbClr val="F4F1E9"/>
        </a:solidFill>
        <a:effectLst/>
      </p:bgPr>
    </p:bg>
    <p:spTree>
      <p:nvGrpSpPr>
        <p:cNvPr id="1" name="Slide objects"/>
        <p:cNvGrpSpPr/>
        <p:nvPr/>
      </p:nvGrpSpPr>
      <p:grpSpPr>
        <a:xfrm>
          <a:off x="0" y="0"/>
          <a:ext cx="0" cy="0"/>
          <a:chOff x="0" y="0"/>
          <a:chExt cx="0" cy="0"/>
        </a:xfrm>
      </p:grpSpPr>
      <p:sp>
        <p:nvSpPr>
          <p:cNvPr id="2" name="slide-header bottom"/>
          <p:cNvSpPr/>
          <p:nvPr/>
        </p:nvSpPr>
        <p:spPr>
          <a:xfrm>
            <a:off x="360883" y="898650"/>
            <a:ext cx="11470234" cy="7620"/>
          </a:xfrm>
          <a:custGeom>
            <a:avLst/>
            <a:gdLst/>
            <a:ahLst/>
            <a:cxnLst/>
            <a:rect l="0" t="0" r="r" b="b"/>
            <a:pathLst>
              <a:path w="1505280" h="1000" fill="none" stroke="1" extrusionOk="0">
                <a:moveTo>
                  <a:pt x="0" y="0"/>
                </a:moveTo>
                <a:lnTo>
                  <a:pt x="1505280" y="0"/>
                </a:lnTo>
              </a:path>
            </a:pathLst>
          </a:custGeom>
          <a:noFill/>
          <a:ln w="7468" cap="flat">
            <a:solidFill>
              <a:srgbClr val="20231F"/>
            </a:solidFill>
            <a:round/>
          </a:ln>
        </p:spPr>
      </p:sp>
      <p:sp>
        <p:nvSpPr>
          <p:cNvPr id="3" name="method-title"/>
          <p:cNvSpPr txBox="1"/>
          <p:nvPr/>
        </p:nvSpPr>
        <p:spPr>
          <a:xfrm>
            <a:off x="360883" y="270205"/>
            <a:ext cx="4202911" cy="576224"/>
          </a:xfrm>
          <a:prstGeom prst="rect">
            <a:avLst/>
          </a:prstGeom>
          <a:noFill/>
          <a:ln w="7620" cap="flat">
            <a:noFill/>
            <a:round/>
          </a:ln>
        </p:spPr>
        <p:txBody>
          <a:bodyPr wrap="none" lIns="0" rIns="0" tIns="0" bIns="0" anchor="t" rtlCol="0">
            <a:noAutofit/>
          </a:bodyPr>
          <a:lstStyle/>
          <a:p>
            <a:pPr marL="0" indent="0" algn="l" fontAlgn="base">
              <a:lnSpc>
                <a:spcPts val="3302"/>
              </a:lnSpc>
              <a:spcBef>
                <a:spcPts val="0"/>
              </a:spcBef>
              <a:spcAft>
                <a:spcPts val="0"/>
              </a:spcAft>
              <a:buNone/>
            </a:pPr>
            <a:r>
              <a:rPr lang="en-AU" sz="3175" b="1" spc="-127" dirty="0">
                <a:solidFill>
                  <a:srgbClr val="20231F"/>
                </a:solidFill>
                <a:latin typeface="Space Grotesk"/>
                <a:ea typeface="Space Grotesk"/>
                <a:cs typeface="Space Grotesk"/>
              </a:rPr>
              <a:t xml:space="preserve">Design &amp; methodology</a:t>
            </a:r>
            <a:r>
              <a:rPr lang="en-AU" sz="3175" b="1" spc="-127" dirty="0">
                <a:solidFill>
                  <a:srgbClr val="214BE0"/>
                </a:solidFill>
                <a:latin typeface="Space Grotesk"/>
                <a:ea typeface="Space Grotesk"/>
                <a:cs typeface="Space Grotesk"/>
              </a:rPr>
              <a:t xml:space="preserve">.</a:t>
            </a:r>
            <a:endParaRPr lang="en-AU" sz="3175"/>
          </a:p>
        </p:txBody>
      </p:sp>
      <p:sp>
        <p:nvSpPr>
          <p:cNvPr id="4" name="wordmark"/>
          <p:cNvSpPr txBox="1"/>
          <p:nvPr/>
        </p:nvSpPr>
        <p:spPr>
          <a:xfrm>
            <a:off x="10739331" y="405205"/>
            <a:ext cx="1152746" cy="314858"/>
          </a:xfrm>
          <a:prstGeom prst="rect">
            <a:avLst/>
          </a:prstGeom>
          <a:noFill/>
          <a:ln w="7620" cap="flat">
            <a:noFill/>
            <a:round/>
          </a:ln>
        </p:spPr>
        <p:txBody>
          <a:bodyPr wrap="none" lIns="0" rIns="0" tIns="0" bIns="0" anchor="t" rtlCol="0">
            <a:noAutofit/>
          </a:bodyPr>
          <a:lstStyle/>
          <a:p>
            <a:pPr marL="0" indent="0" algn="l" fontAlgn="base">
              <a:lnSpc>
                <a:spcPts val="1529"/>
              </a:lnSpc>
              <a:spcBef>
                <a:spcPts val="0"/>
              </a:spcBef>
              <a:spcAft>
                <a:spcPts val="0"/>
              </a:spcAft>
              <a:buNone/>
            </a:pPr>
            <a:r>
              <a:rPr lang="en-AU" sz="1529" b="1" spc="-46" dirty="0">
                <a:solidFill>
                  <a:srgbClr val="20231F"/>
                </a:solidFill>
                <a:latin typeface="Space Grotesk"/>
                <a:ea typeface="Space Grotesk"/>
                <a:cs typeface="Space Grotesk"/>
              </a:rPr>
              <a:t xml:space="preserve">CyberScope</a:t>
            </a:r>
            <a:endParaRPr lang="en-AU" sz="1529"/>
          </a:p>
        </p:txBody>
      </p:sp>
      <p:sp>
        <p:nvSpPr>
          <p:cNvPr id="5" name="P"/>
          <p:cNvSpPr txBox="1"/>
          <p:nvPr/>
        </p:nvSpPr>
        <p:spPr>
          <a:xfrm>
            <a:off x="360883" y="958391"/>
            <a:ext cx="3048000" cy="284988"/>
          </a:xfrm>
          <a:prstGeom prst="rect">
            <a:avLst/>
          </a:prstGeom>
          <a:noFill/>
          <a:ln w="7620" cap="flat">
            <a:noFill/>
            <a:round/>
          </a:ln>
        </p:spPr>
        <p:txBody>
          <a:bodyPr wrap="none" lIns="0" rIns="0" tIns="0" bIns="0" anchor="t" rtlCol="0">
            <a:noAutofit/>
          </a:bodyPr>
          <a:lstStyle/>
          <a:p>
            <a:pPr marL="0" indent="0" algn="l" fontAlgn="base">
              <a:lnSpc>
                <a:spcPts val="1352"/>
              </a:lnSpc>
              <a:spcBef>
                <a:spcPts val="0"/>
              </a:spcBef>
              <a:spcAft>
                <a:spcPts val="0"/>
              </a:spcAft>
              <a:buNone/>
            </a:pPr>
            <a:r>
              <a:rPr lang="en-AU" sz="1352" b="0" spc="0" dirty="0">
                <a:solidFill>
                  <a:srgbClr val="20231F"/>
                </a:solidFill>
                <a:latin typeface="Space Grotesk"/>
                <a:ea typeface="Space Grotesk"/>
                <a:cs typeface="Space Grotesk"/>
              </a:rPr>
              <a:t xml:space="preserve">Collect → hash → compare → decide</a:t>
            </a:r>
            <a:endParaRPr lang="en-AU" sz="1352"/>
          </a:p>
        </p:txBody>
      </p:sp>
      <p:sp>
        <p:nvSpPr>
          <p:cNvPr id="6" name="client-host"/>
          <p:cNvSpPr/>
          <p:nvPr/>
        </p:nvSpPr>
        <p:spPr>
          <a:xfrm>
            <a:off x="622989" y="2392644"/>
            <a:ext cx="5167337" cy="2343497"/>
          </a:xfrm>
          <a:prstGeom prst="roundRect">
            <a:avLst>
              <a:gd name="adj" fmla="val 4969"/>
            </a:avLst>
          </a:prstGeom>
          <a:solidFill>
            <a:srgbClr val="E7EDFC"/>
          </a:solidFill>
          <a:ln w="7278" cap="flat">
            <a:solidFill>
              <a:srgbClr val="C5D1EA"/>
            </a:solidFill>
            <a:round/>
          </a:ln>
        </p:spPr>
      </p:sp>
      <p:sp>
        <p:nvSpPr>
          <p:cNvPr id="7" name="verifier-host"/>
          <p:cNvSpPr/>
          <p:nvPr/>
        </p:nvSpPr>
        <p:spPr>
          <a:xfrm>
            <a:off x="6037777" y="2392644"/>
            <a:ext cx="2547279" cy="1848597"/>
          </a:xfrm>
          <a:prstGeom prst="roundRect">
            <a:avLst>
              <a:gd name="adj" fmla="val 6299"/>
            </a:avLst>
          </a:prstGeom>
          <a:solidFill>
            <a:srgbClr val="E5F0EC"/>
          </a:solidFill>
          <a:ln w="7278" cap="flat">
            <a:solidFill>
              <a:srgbClr val="B9D6CC"/>
            </a:solidFill>
            <a:round/>
          </a:ln>
        </p:spPr>
      </p:sp>
      <p:sp>
        <p:nvSpPr>
          <p:cNvPr id="8" name="blockchain-host"/>
          <p:cNvSpPr/>
          <p:nvPr/>
        </p:nvSpPr>
        <p:spPr>
          <a:xfrm>
            <a:off x="8876173" y="2392644"/>
            <a:ext cx="2547279" cy="1848597"/>
          </a:xfrm>
          <a:prstGeom prst="roundRect">
            <a:avLst>
              <a:gd name="adj" fmla="val 6299"/>
            </a:avLst>
          </a:prstGeom>
          <a:solidFill>
            <a:srgbClr val="ECE9DE"/>
          </a:solidFill>
          <a:ln w="7278" cap="flat">
            <a:solidFill>
              <a:srgbClr val="D2CDBC"/>
            </a:solidFill>
            <a:round/>
          </a:ln>
        </p:spPr>
      </p:sp>
      <p:sp>
        <p:nvSpPr>
          <p:cNvPr id="9" name="Host 1 · Client"/>
          <p:cNvSpPr txBox="1"/>
          <p:nvPr/>
        </p:nvSpPr>
        <p:spPr>
          <a:xfrm>
            <a:off x="768548" y="2458240"/>
            <a:ext cx="1089660" cy="266700"/>
          </a:xfrm>
          <a:prstGeom prst="rect">
            <a:avLst/>
          </a:prstGeom>
          <a:noFill/>
          <a:ln w="7620" cap="flat">
            <a:noFill/>
            <a:round/>
          </a:ln>
        </p:spPr>
        <p:txBody>
          <a:bodyPr wrap="none" lIns="0" rIns="0" tIns="0" bIns="0" anchor="t" rtlCol="0">
            <a:noAutofit/>
          </a:bodyPr>
          <a:lstStyle/>
          <a:p>
            <a:pPr marL="0" indent="0" algn="l" fontAlgn="base">
              <a:lnSpc>
                <a:spcPts val="1261"/>
              </a:lnSpc>
              <a:spcBef>
                <a:spcPts val="0"/>
              </a:spcBef>
              <a:spcAft>
                <a:spcPts val="0"/>
              </a:spcAft>
              <a:buNone/>
            </a:pPr>
            <a:r>
              <a:rPr lang="en-AU" sz="1261" b="1" spc="0" dirty="0">
                <a:solidFill>
                  <a:srgbClr val="20231F"/>
                </a:solidFill>
                <a:latin typeface="Space Grotesk"/>
                <a:ea typeface="Space Grotesk"/>
                <a:cs typeface="Space Grotesk"/>
              </a:rPr>
              <a:t xml:space="preserve">Host 1 · Client</a:t>
            </a:r>
            <a:endParaRPr lang="en-AU" sz="1261"/>
          </a:p>
        </p:txBody>
      </p:sp>
      <p:sp>
        <p:nvSpPr>
          <p:cNvPr id="10" name="Physical Raspberry Pi"/>
          <p:cNvSpPr txBox="1"/>
          <p:nvPr/>
        </p:nvSpPr>
        <p:spPr>
          <a:xfrm>
            <a:off x="4320940" y="2496340"/>
            <a:ext cx="1341120" cy="220980"/>
          </a:xfrm>
          <a:prstGeom prst="rect">
            <a:avLst/>
          </a:prstGeom>
          <a:noFill/>
          <a:ln w="7620" cap="flat">
            <a:noFill/>
            <a:round/>
          </a:ln>
        </p:spPr>
        <p:txBody>
          <a:bodyPr wrap="none" lIns="0" rIns="0" tIns="0" bIns="0" anchor="t" rtlCol="0">
            <a:noAutofit/>
          </a:bodyPr>
          <a:lstStyle/>
          <a:p>
            <a:pPr marL="0" indent="0" algn="l" fontAlgn="base">
              <a:lnSpc>
                <a:spcPts val="974"/>
              </a:lnSpc>
              <a:spcBef>
                <a:spcPts val="0"/>
              </a:spcBef>
              <a:spcAft>
                <a:spcPts val="0"/>
              </a:spcAft>
              <a:buNone/>
            </a:pPr>
            <a:r>
              <a:rPr lang="en-AU" sz="974" b="0" spc="0" dirty="0">
                <a:solidFill>
                  <a:srgbClr val="60645B"/>
                </a:solidFill>
                <a:latin typeface="Space Grotesk"/>
                <a:ea typeface="Space Grotesk"/>
                <a:cs typeface="Space Grotesk"/>
              </a:rPr>
              <a:t xml:space="preserve">Physical Raspberry Pi</a:t>
            </a:r>
            <a:endParaRPr lang="en-AU" sz="974"/>
          </a:p>
        </p:txBody>
      </p:sp>
      <p:sp>
        <p:nvSpPr>
          <p:cNvPr id="11" name="Host 2 · Verifier"/>
          <p:cNvSpPr txBox="1"/>
          <p:nvPr/>
        </p:nvSpPr>
        <p:spPr>
          <a:xfrm>
            <a:off x="6183336" y="2458240"/>
            <a:ext cx="1211580" cy="266700"/>
          </a:xfrm>
          <a:prstGeom prst="rect">
            <a:avLst/>
          </a:prstGeom>
          <a:noFill/>
          <a:ln w="7620" cap="flat">
            <a:noFill/>
            <a:round/>
          </a:ln>
        </p:spPr>
        <p:txBody>
          <a:bodyPr wrap="none" lIns="0" rIns="0" tIns="0" bIns="0" anchor="t" rtlCol="0">
            <a:noAutofit/>
          </a:bodyPr>
          <a:lstStyle/>
          <a:p>
            <a:pPr marL="0" indent="0" algn="l" fontAlgn="base">
              <a:lnSpc>
                <a:spcPts val="1261"/>
              </a:lnSpc>
              <a:spcBef>
                <a:spcPts val="0"/>
              </a:spcBef>
              <a:spcAft>
                <a:spcPts val="0"/>
              </a:spcAft>
              <a:buNone/>
            </a:pPr>
            <a:r>
              <a:rPr lang="en-AU" sz="1261" b="1" spc="0" dirty="0">
                <a:solidFill>
                  <a:srgbClr val="20231F"/>
                </a:solidFill>
                <a:latin typeface="Space Grotesk"/>
                <a:ea typeface="Space Grotesk"/>
                <a:cs typeface="Space Grotesk"/>
              </a:rPr>
              <a:t xml:space="preserve">Host 2 · Verifier</a:t>
            </a:r>
            <a:endParaRPr lang="en-AU" sz="1261"/>
          </a:p>
        </p:txBody>
      </p:sp>
      <p:sp>
        <p:nvSpPr>
          <p:cNvPr id="12" name="Host 3 · Blockchain"/>
          <p:cNvSpPr txBox="1"/>
          <p:nvPr/>
        </p:nvSpPr>
        <p:spPr>
          <a:xfrm>
            <a:off x="9021732" y="2458240"/>
            <a:ext cx="1508760" cy="266700"/>
          </a:xfrm>
          <a:prstGeom prst="rect">
            <a:avLst/>
          </a:prstGeom>
          <a:noFill/>
          <a:ln w="7620" cap="flat">
            <a:noFill/>
            <a:round/>
          </a:ln>
        </p:spPr>
        <p:txBody>
          <a:bodyPr wrap="none" lIns="0" rIns="0" tIns="0" bIns="0" anchor="t" rtlCol="0">
            <a:noAutofit/>
          </a:bodyPr>
          <a:lstStyle/>
          <a:p>
            <a:pPr marL="0" indent="0" algn="l" fontAlgn="base">
              <a:lnSpc>
                <a:spcPts val="1261"/>
              </a:lnSpc>
              <a:spcBef>
                <a:spcPts val="0"/>
              </a:spcBef>
              <a:spcAft>
                <a:spcPts val="0"/>
              </a:spcAft>
              <a:buNone/>
            </a:pPr>
            <a:r>
              <a:rPr lang="en-AU" sz="1261" b="1" spc="0" dirty="0">
                <a:solidFill>
                  <a:srgbClr val="20231F"/>
                </a:solidFill>
                <a:latin typeface="Space Grotesk"/>
                <a:ea typeface="Space Grotesk"/>
                <a:cs typeface="Space Grotesk"/>
              </a:rPr>
              <a:t xml:space="preserve">Host 3 · Blockchain</a:t>
            </a:r>
            <a:endParaRPr lang="en-AU" sz="1261"/>
          </a:p>
        </p:txBody>
      </p:sp>
      <p:sp>
        <p:nvSpPr>
          <p:cNvPr id="13" name="approve-path"/>
          <p:cNvSpPr/>
          <p:nvPr/>
        </p:nvSpPr>
        <p:spPr>
          <a:xfrm>
            <a:off x="1481786" y="1628460"/>
            <a:ext cx="3202294" cy="1310029"/>
          </a:xfrm>
          <a:custGeom>
            <a:avLst/>
            <a:gdLst/>
            <a:ahLst/>
            <a:cxnLst/>
            <a:rect l="0" t="0" r="r" b="b"/>
            <a:pathLst>
              <a:path w="420249" h="171920" fill="none" stroke="1" extrusionOk="0">
                <a:moveTo>
                  <a:pt x="420249" y="0"/>
                </a:moveTo>
                <a:lnTo>
                  <a:pt x="131805" y="0"/>
                </a:lnTo>
                <a:quadBezTo>
                  <a:pt x="112703" y="0"/>
                  <a:pt x="112703" y="19102"/>
                </a:quadBezTo>
                <a:lnTo>
                  <a:pt x="112703" y="133715"/>
                </a:lnTo>
                <a:quadBezTo>
                  <a:pt x="112703" y="150907"/>
                  <a:pt x="95511" y="150907"/>
                </a:quadBezTo>
                <a:lnTo>
                  <a:pt x="17192" y="150907"/>
                </a:lnTo>
                <a:quadBezTo>
                  <a:pt x="0" y="150907"/>
                  <a:pt x="0" y="168099"/>
                </a:quadBezTo>
                <a:lnTo>
                  <a:pt x="0" y="171920"/>
                </a:lnTo>
              </a:path>
            </a:pathLst>
          </a:custGeom>
          <a:noFill/>
          <a:ln w="12372" cap="flat">
            <a:solidFill>
              <a:srgbClr val="60645B"/>
            </a:solidFill>
            <a:round/>
            <a:headEnd type="none" w="sm" len="sm"/>
            <a:tailEnd type="triangle" w="sm" len="sm"/>
          </a:ln>
        </p:spPr>
      </p:sp>
      <p:sp>
        <p:nvSpPr>
          <p:cNvPr id="14" name="parameter-path"/>
          <p:cNvSpPr/>
          <p:nvPr/>
        </p:nvSpPr>
        <p:spPr>
          <a:xfrm>
            <a:off x="2195024" y="3484335"/>
            <a:ext cx="567679" cy="7620"/>
          </a:xfrm>
          <a:custGeom>
            <a:avLst/>
            <a:gdLst/>
            <a:ahLst/>
            <a:cxnLst/>
            <a:rect l="0" t="0" r="r" b="b"/>
            <a:pathLst>
              <a:path w="74499" h="1000" fill="none" stroke="1" extrusionOk="0">
                <a:moveTo>
                  <a:pt x="0" y="0"/>
                </a:moveTo>
                <a:lnTo>
                  <a:pt x="74499" y="0"/>
                </a:lnTo>
              </a:path>
            </a:pathLst>
          </a:custGeom>
          <a:noFill/>
          <a:ln w="12372" cap="flat">
            <a:solidFill>
              <a:srgbClr val="214BE0"/>
            </a:solidFill>
            <a:round/>
            <a:headEnd type="none" w="sm" len="sm"/>
            <a:tailEnd type="triangle" w="sm" len="sm"/>
          </a:ln>
        </p:spPr>
      </p:sp>
      <p:sp>
        <p:nvSpPr>
          <p:cNvPr id="15" name="digest-path"/>
          <p:cNvSpPr/>
          <p:nvPr/>
        </p:nvSpPr>
        <p:spPr>
          <a:xfrm>
            <a:off x="3665168" y="3484335"/>
            <a:ext cx="582235" cy="7620"/>
          </a:xfrm>
          <a:custGeom>
            <a:avLst/>
            <a:gdLst/>
            <a:ahLst/>
            <a:cxnLst/>
            <a:rect l="0" t="0" r="r" b="b"/>
            <a:pathLst>
              <a:path w="76409" h="1000" fill="none" stroke="1" extrusionOk="0">
                <a:moveTo>
                  <a:pt x="0" y="0"/>
                </a:moveTo>
                <a:lnTo>
                  <a:pt x="76409" y="0"/>
                </a:lnTo>
              </a:path>
            </a:pathLst>
          </a:custGeom>
          <a:noFill/>
          <a:ln w="12372" cap="flat">
            <a:solidFill>
              <a:srgbClr val="214BE0"/>
            </a:solidFill>
            <a:round/>
            <a:headEnd type="none" w="sm" len="sm"/>
            <a:tailEnd type="triangle" w="sm" len="sm"/>
          </a:ln>
        </p:spPr>
      </p:sp>
      <p:sp>
        <p:nvSpPr>
          <p:cNvPr id="16" name="sensor-path"/>
          <p:cNvSpPr/>
          <p:nvPr/>
        </p:nvSpPr>
        <p:spPr>
          <a:xfrm>
            <a:off x="3890784" y="3993790"/>
            <a:ext cx="1069857" cy="414843"/>
          </a:xfrm>
          <a:custGeom>
            <a:avLst/>
            <a:gdLst/>
            <a:ahLst/>
            <a:cxnLst/>
            <a:rect l="0" t="0" r="r" b="b"/>
            <a:pathLst>
              <a:path w="140401" h="54441" fill="none" stroke="1" extrusionOk="0">
                <a:moveTo>
                  <a:pt x="0" y="54441"/>
                </a:moveTo>
                <a:lnTo>
                  <a:pt x="123209" y="54441"/>
                </a:lnTo>
                <a:quadBezTo>
                  <a:pt x="140401" y="54441"/>
                  <a:pt x="140401" y="37249"/>
                </a:quadBezTo>
                <a:lnTo>
                  <a:pt x="140401" y="0"/>
                </a:lnTo>
              </a:path>
            </a:pathLst>
          </a:custGeom>
          <a:noFill/>
          <a:ln w="12372" cap="flat">
            <a:solidFill>
              <a:srgbClr val="08766B"/>
            </a:solidFill>
            <a:round/>
            <a:headEnd type="none" w="sm" len="sm"/>
            <a:tailEnd type="triangle" w="sm" len="sm"/>
          </a:ln>
        </p:spPr>
      </p:sp>
      <p:sp>
        <p:nvSpPr>
          <p:cNvPr id="17" name="submit-path"/>
          <p:cNvSpPr/>
          <p:nvPr/>
        </p:nvSpPr>
        <p:spPr>
          <a:xfrm>
            <a:off x="5440986" y="2065136"/>
            <a:ext cx="5909687" cy="1419198"/>
          </a:xfrm>
          <a:custGeom>
            <a:avLst/>
            <a:gdLst/>
            <a:ahLst/>
            <a:cxnLst/>
            <a:rect l="0" t="0" r="r" b="b"/>
            <a:pathLst>
              <a:path w="775550" h="186246" fill="none" stroke="1" extrusionOk="0">
                <a:moveTo>
                  <a:pt x="0" y="186246"/>
                </a:moveTo>
                <a:lnTo>
                  <a:pt x="40115" y="186246"/>
                </a:lnTo>
                <a:quadBezTo>
                  <a:pt x="57307" y="186246"/>
                  <a:pt x="57307" y="169055"/>
                </a:quadBezTo>
                <a:lnTo>
                  <a:pt x="57307" y="17192"/>
                </a:lnTo>
                <a:quadBezTo>
                  <a:pt x="57307" y="0"/>
                  <a:pt x="74499" y="0"/>
                </a:quadBezTo>
                <a:lnTo>
                  <a:pt x="758358" y="0"/>
                </a:lnTo>
                <a:quadBezTo>
                  <a:pt x="775550" y="0"/>
                  <a:pt x="775550" y="17192"/>
                </a:quadBezTo>
                <a:lnTo>
                  <a:pt x="775550" y="124164"/>
                </a:lnTo>
                <a:quadBezTo>
                  <a:pt x="775550" y="137536"/>
                  <a:pt x="762178" y="137536"/>
                </a:quadBezTo>
              </a:path>
            </a:pathLst>
          </a:custGeom>
          <a:noFill/>
          <a:ln w="12372" cap="flat">
            <a:solidFill>
              <a:srgbClr val="214BE0"/>
            </a:solidFill>
            <a:round/>
            <a:headEnd type="none" w="sm" len="sm"/>
            <a:tailEnd type="triangle" w="sm" len="sm"/>
          </a:ln>
        </p:spPr>
      </p:sp>
      <p:sp>
        <p:nvSpPr>
          <p:cNvPr id="18" name="store-path"/>
          <p:cNvSpPr/>
          <p:nvPr/>
        </p:nvSpPr>
        <p:spPr>
          <a:xfrm>
            <a:off x="10149813" y="3367888"/>
            <a:ext cx="7620" cy="232894"/>
          </a:xfrm>
          <a:custGeom>
            <a:avLst/>
            <a:gdLst/>
            <a:ahLst/>
            <a:cxnLst/>
            <a:rect l="0" t="0" r="r" b="b"/>
            <a:pathLst>
              <a:path w="1000" h="30564" fill="none" stroke="1" extrusionOk="0">
                <a:moveTo>
                  <a:pt x="0" y="0"/>
                </a:moveTo>
                <a:lnTo>
                  <a:pt x="0" y="30564"/>
                </a:lnTo>
              </a:path>
            </a:pathLst>
          </a:custGeom>
          <a:noFill/>
          <a:ln w="12372" cap="flat">
            <a:solidFill>
              <a:srgbClr val="214BE0"/>
            </a:solidFill>
            <a:round/>
            <a:headEnd type="none" w="sm" len="sm"/>
            <a:tailEnd type="triangle" w="sm" len="sm"/>
          </a:ln>
        </p:spPr>
      </p:sp>
      <p:sp>
        <p:nvSpPr>
          <p:cNvPr id="19" name="forward-path"/>
          <p:cNvSpPr/>
          <p:nvPr/>
        </p:nvSpPr>
        <p:spPr>
          <a:xfrm>
            <a:off x="8410385" y="3113160"/>
            <a:ext cx="640459" cy="94613"/>
          </a:xfrm>
          <a:custGeom>
            <a:avLst/>
            <a:gdLst/>
            <a:ahLst/>
            <a:cxnLst/>
            <a:rect l="0" t="0" r="r" b="b"/>
            <a:pathLst>
              <a:path w="84050" h="12416" fill="none" stroke="1" extrusionOk="0">
                <a:moveTo>
                  <a:pt x="84050" y="0"/>
                </a:moveTo>
                <a:lnTo>
                  <a:pt x="66858" y="0"/>
                </a:lnTo>
                <a:quadBezTo>
                  <a:pt x="53486" y="0"/>
                  <a:pt x="53486" y="12416"/>
                </a:quadBezTo>
                <a:lnTo>
                  <a:pt x="0" y="12416"/>
                </a:lnTo>
              </a:path>
            </a:pathLst>
          </a:custGeom>
          <a:noFill/>
          <a:ln w="12372" cap="flat">
            <a:solidFill>
              <a:srgbClr val="214BE0"/>
            </a:solidFill>
            <a:round/>
            <a:headEnd type="none" w="sm" len="sm"/>
            <a:tailEnd type="triangle" w="sm" len="sm"/>
          </a:ln>
        </p:spPr>
      </p:sp>
      <p:sp>
        <p:nvSpPr>
          <p:cNvPr id="20" name="baseline-path"/>
          <p:cNvSpPr/>
          <p:nvPr/>
        </p:nvSpPr>
        <p:spPr>
          <a:xfrm>
            <a:off x="8410385" y="3804564"/>
            <a:ext cx="640459" cy="7620"/>
          </a:xfrm>
          <a:custGeom>
            <a:avLst/>
            <a:gdLst/>
            <a:ahLst/>
            <a:cxnLst/>
            <a:rect l="0" t="0" r="r" b="b"/>
            <a:pathLst>
              <a:path w="84050" h="1000" fill="none" stroke="1" extrusionOk="0">
                <a:moveTo>
                  <a:pt x="84050" y="0"/>
                </a:moveTo>
                <a:lnTo>
                  <a:pt x="0" y="0"/>
                </a:lnTo>
              </a:path>
            </a:pathLst>
          </a:custGeom>
          <a:noFill/>
          <a:ln w="12372" cap="flat">
            <a:solidFill>
              <a:srgbClr val="214BE0"/>
            </a:solidFill>
            <a:round/>
            <a:headEnd type="none" w="sm" len="sm"/>
            <a:tailEnd type="triangle" w="sm" len="sm"/>
          </a:ln>
        </p:spPr>
      </p:sp>
      <p:sp>
        <p:nvSpPr>
          <p:cNvPr id="21" name="accept-path"/>
          <p:cNvSpPr/>
          <p:nvPr/>
        </p:nvSpPr>
        <p:spPr>
          <a:xfrm>
            <a:off x="6911129" y="4022902"/>
            <a:ext cx="101891" cy="502178"/>
          </a:xfrm>
          <a:custGeom>
            <a:avLst/>
            <a:gdLst/>
            <a:ahLst/>
            <a:cxnLst/>
            <a:rect l="0" t="0" r="r" b="b"/>
            <a:pathLst>
              <a:path w="13372" h="65903" fill="none" stroke="1" extrusionOk="0">
                <a:moveTo>
                  <a:pt x="0" y="0"/>
                </a:moveTo>
                <a:lnTo>
                  <a:pt x="0" y="39160"/>
                </a:lnTo>
                <a:quadBezTo>
                  <a:pt x="0" y="52531"/>
                  <a:pt x="13372" y="52531"/>
                </a:quadBezTo>
                <a:lnTo>
                  <a:pt x="13372" y="65903"/>
                </a:lnTo>
              </a:path>
            </a:pathLst>
          </a:custGeom>
          <a:noFill/>
          <a:ln w="12372" cap="flat">
            <a:solidFill>
              <a:srgbClr val="08766B"/>
            </a:solidFill>
            <a:round/>
            <a:headEnd type="none" w="sm" len="sm"/>
            <a:tailEnd type="triangle" w="sm" len="sm"/>
          </a:ln>
        </p:spPr>
      </p:sp>
      <p:sp>
        <p:nvSpPr>
          <p:cNvPr id="22" name="reject-path"/>
          <p:cNvSpPr/>
          <p:nvPr/>
        </p:nvSpPr>
        <p:spPr>
          <a:xfrm>
            <a:off x="7930041" y="4022902"/>
            <a:ext cx="2518167" cy="502178"/>
          </a:xfrm>
          <a:custGeom>
            <a:avLst/>
            <a:gdLst/>
            <a:ahLst/>
            <a:cxnLst/>
            <a:rect l="0" t="0" r="r" b="b"/>
            <a:pathLst>
              <a:path w="330468" h="65903" fill="none" stroke="1" extrusionOk="0">
                <a:moveTo>
                  <a:pt x="0" y="0"/>
                </a:moveTo>
                <a:lnTo>
                  <a:pt x="0" y="30564"/>
                </a:lnTo>
                <a:quadBezTo>
                  <a:pt x="0" y="47756"/>
                  <a:pt x="17192" y="47756"/>
                </a:quadBezTo>
                <a:lnTo>
                  <a:pt x="313276" y="47756"/>
                </a:lnTo>
                <a:quadBezTo>
                  <a:pt x="330468" y="47756"/>
                  <a:pt x="330468" y="64947"/>
                </a:quadBezTo>
                <a:lnTo>
                  <a:pt x="330468" y="65903"/>
                </a:lnTo>
              </a:path>
            </a:pathLst>
          </a:custGeom>
          <a:noFill/>
          <a:ln w="12372" cap="flat">
            <a:solidFill>
              <a:srgbClr val="C43E2D"/>
            </a:solidFill>
            <a:round/>
            <a:headEnd type="none" w="sm" len="sm"/>
            <a:tailEnd type="triangle" w="sm" len="sm"/>
          </a:ln>
        </p:spPr>
      </p:sp>
      <p:sp>
        <p:nvSpPr>
          <p:cNvPr id="23" name="consumer-path"/>
          <p:cNvSpPr/>
          <p:nvPr/>
        </p:nvSpPr>
        <p:spPr>
          <a:xfrm>
            <a:off x="7813594" y="4794364"/>
            <a:ext cx="116447" cy="7620"/>
          </a:xfrm>
          <a:custGeom>
            <a:avLst/>
            <a:gdLst/>
            <a:ahLst/>
            <a:cxnLst/>
            <a:rect l="0" t="0" r="r" b="b"/>
            <a:pathLst>
              <a:path w="15282" h="1000" fill="none" stroke="1" extrusionOk="0">
                <a:moveTo>
                  <a:pt x="0" y="0"/>
                </a:moveTo>
                <a:lnTo>
                  <a:pt x="15282" y="0"/>
                </a:lnTo>
              </a:path>
            </a:pathLst>
          </a:custGeom>
          <a:noFill/>
          <a:ln w="12372" cap="flat">
            <a:solidFill>
              <a:srgbClr val="08766B"/>
            </a:solidFill>
            <a:round/>
            <a:headEnd type="none" w="sm" len="sm"/>
            <a:tailEnd type="triangle" w="sm" len="sm"/>
          </a:ln>
        </p:spPr>
      </p:sp>
      <p:sp>
        <p:nvSpPr>
          <p:cNvPr id="24" name="alert-path"/>
          <p:cNvSpPr/>
          <p:nvPr/>
        </p:nvSpPr>
        <p:spPr>
          <a:xfrm>
            <a:off x="5521043" y="1279119"/>
            <a:ext cx="6164415" cy="3515245"/>
          </a:xfrm>
          <a:custGeom>
            <a:avLst/>
            <a:gdLst/>
            <a:ahLst/>
            <a:cxnLst/>
            <a:rect l="0" t="0" r="r" b="b"/>
            <a:pathLst>
              <a:path w="808978" h="461318" fill="none" stroke="1" extrusionOk="0">
                <a:moveTo>
                  <a:pt x="751672" y="461318"/>
                </a:moveTo>
                <a:lnTo>
                  <a:pt x="791786" y="461318"/>
                </a:lnTo>
                <a:quadBezTo>
                  <a:pt x="808978" y="461318"/>
                  <a:pt x="808978" y="444126"/>
                </a:quadBezTo>
                <a:lnTo>
                  <a:pt x="808978" y="17192"/>
                </a:lnTo>
                <a:quadBezTo>
                  <a:pt x="808978" y="0"/>
                  <a:pt x="791786" y="0"/>
                </a:quadBezTo>
                <a:lnTo>
                  <a:pt x="17192" y="0"/>
                </a:lnTo>
                <a:quadBezTo>
                  <a:pt x="0" y="0"/>
                  <a:pt x="0" y="11461"/>
                </a:quadBezTo>
              </a:path>
            </a:pathLst>
          </a:custGeom>
          <a:noFill/>
          <a:ln w="12372" cap="flat">
            <a:solidFill>
              <a:srgbClr val="C43E2D"/>
            </a:solidFill>
            <a:round/>
            <a:headEnd type="none" w="sm" len="sm"/>
            <a:tailEnd type="triangle" w="sm" len="sm"/>
          </a:ln>
        </p:spPr>
      </p:sp>
      <p:sp>
        <p:nvSpPr>
          <p:cNvPr id="25" name="Approve known-good state"/>
          <p:cNvSpPr txBox="1"/>
          <p:nvPr/>
        </p:nvSpPr>
        <p:spPr>
          <a:xfrm>
            <a:off x="2835483" y="1354045"/>
            <a:ext cx="1600200" cy="205740"/>
          </a:xfrm>
          <a:prstGeom prst="rect">
            <a:avLst/>
          </a:prstGeom>
          <a:noFill/>
          <a:ln w="7620" cap="flat">
            <a:noFill/>
            <a:round/>
          </a:ln>
        </p:spPr>
        <p:txBody>
          <a:bodyPr wrap="none" lIns="0" rIns="0" tIns="0" bIns="0" anchor="t" rtlCol="0">
            <a:noAutofit/>
          </a:bodyPr>
          <a:lstStyle/>
          <a:p>
            <a:pPr marL="0" indent="0" algn="l" fontAlgn="base">
              <a:lnSpc>
                <a:spcPts val="917"/>
              </a:lnSpc>
              <a:spcBef>
                <a:spcPts val="0"/>
              </a:spcBef>
              <a:spcAft>
                <a:spcPts val="0"/>
              </a:spcAft>
              <a:buNone/>
            </a:pPr>
            <a:r>
              <a:rPr lang="en-AU" sz="917" b="0" spc="0" dirty="0">
                <a:solidFill>
                  <a:srgbClr val="60645B"/>
                </a:solidFill>
                <a:latin typeface="Space Grotesk"/>
                <a:ea typeface="Space Grotesk"/>
                <a:cs typeface="Space Grotesk"/>
              </a:rPr>
              <a:t xml:space="preserve">Approve known-good state</a:t>
            </a:r>
            <a:endParaRPr lang="en-AU" sz="917"/>
          </a:p>
        </p:txBody>
      </p:sp>
      <p:sp>
        <p:nvSpPr>
          <p:cNvPr id="26" name="Send I2Map to blockchain"/>
          <p:cNvSpPr txBox="1"/>
          <p:nvPr/>
        </p:nvSpPr>
        <p:spPr>
          <a:xfrm>
            <a:off x="7519093" y="1783444"/>
            <a:ext cx="1508759" cy="205740"/>
          </a:xfrm>
          <a:prstGeom prst="rect">
            <a:avLst/>
          </a:prstGeom>
          <a:noFill/>
          <a:ln w="7620" cap="flat">
            <a:noFill/>
            <a:round/>
          </a:ln>
        </p:spPr>
        <p:txBody>
          <a:bodyPr wrap="none" lIns="0" rIns="0" tIns="0" bIns="0" anchor="t" rtlCol="0">
            <a:noAutofit/>
          </a:bodyPr>
          <a:lstStyle/>
          <a:p>
            <a:pPr marL="0" indent="0" algn="l" fontAlgn="base">
              <a:lnSpc>
                <a:spcPts val="917"/>
              </a:lnSpc>
              <a:spcBef>
                <a:spcPts val="0"/>
              </a:spcBef>
              <a:spcAft>
                <a:spcPts val="0"/>
              </a:spcAft>
              <a:buNone/>
            </a:pPr>
            <a:r>
              <a:rPr lang="en-AU" sz="917" b="0" spc="0" dirty="0">
                <a:solidFill>
                  <a:srgbClr val="60645B"/>
                </a:solidFill>
                <a:latin typeface="Space Grotesk"/>
                <a:ea typeface="Space Grotesk"/>
                <a:cs typeface="Space Grotesk"/>
              </a:rPr>
              <a:t xml:space="preserve">Send I2Map to blockchain</a:t>
            </a:r>
            <a:endParaRPr lang="en-AU" sz="917"/>
          </a:p>
        </p:txBody>
      </p:sp>
      <p:sp>
        <p:nvSpPr>
          <p:cNvPr id="27" name="I2Map"/>
          <p:cNvSpPr txBox="1"/>
          <p:nvPr/>
        </p:nvSpPr>
        <p:spPr>
          <a:xfrm>
            <a:off x="8559165" y="2896969"/>
            <a:ext cx="403861" cy="205740"/>
          </a:xfrm>
          <a:prstGeom prst="rect">
            <a:avLst/>
          </a:prstGeom>
          <a:noFill/>
          <a:ln w="7620" cap="flat">
            <a:noFill/>
            <a:round/>
          </a:ln>
        </p:spPr>
        <p:txBody>
          <a:bodyPr wrap="none" lIns="0" rIns="0" tIns="0" bIns="0" anchor="t" rtlCol="0">
            <a:noAutofit/>
          </a:bodyPr>
          <a:lstStyle/>
          <a:p>
            <a:pPr marL="0" indent="0" algn="l" fontAlgn="base">
              <a:lnSpc>
                <a:spcPts val="917"/>
              </a:lnSpc>
              <a:spcBef>
                <a:spcPts val="0"/>
              </a:spcBef>
              <a:spcAft>
                <a:spcPts val="0"/>
              </a:spcAft>
              <a:buNone/>
            </a:pPr>
            <a:r>
              <a:rPr lang="en-AU" sz="917" b="0" spc="0" dirty="0">
                <a:solidFill>
                  <a:srgbClr val="60645B"/>
                </a:solidFill>
                <a:latin typeface="Space Grotesk"/>
                <a:ea typeface="Space Grotesk"/>
                <a:cs typeface="Space Grotesk"/>
              </a:rPr>
              <a:t xml:space="preserve">I2Map</a:t>
            </a:r>
            <a:endParaRPr lang="en-AU" sz="917"/>
          </a:p>
        </p:txBody>
      </p:sp>
      <p:sp>
        <p:nvSpPr>
          <p:cNvPr id="28" name="Baseline"/>
          <p:cNvSpPr txBox="1"/>
          <p:nvPr/>
        </p:nvSpPr>
        <p:spPr>
          <a:xfrm>
            <a:off x="8494395" y="3551983"/>
            <a:ext cx="533400" cy="205740"/>
          </a:xfrm>
          <a:prstGeom prst="rect">
            <a:avLst/>
          </a:prstGeom>
          <a:noFill/>
          <a:ln w="7620" cap="flat">
            <a:noFill/>
            <a:round/>
          </a:ln>
        </p:spPr>
        <p:txBody>
          <a:bodyPr wrap="none" lIns="0" rIns="0" tIns="0" bIns="0" anchor="t" rtlCol="0">
            <a:noAutofit/>
          </a:bodyPr>
          <a:lstStyle/>
          <a:p>
            <a:pPr marL="0" indent="0" algn="l" fontAlgn="base">
              <a:lnSpc>
                <a:spcPts val="917"/>
              </a:lnSpc>
              <a:spcBef>
                <a:spcPts val="0"/>
              </a:spcBef>
              <a:spcAft>
                <a:spcPts val="0"/>
              </a:spcAft>
              <a:buNone/>
            </a:pPr>
            <a:r>
              <a:rPr lang="en-AU" sz="917" b="0" spc="0" dirty="0">
                <a:solidFill>
                  <a:srgbClr val="60645B"/>
                </a:solidFill>
                <a:latin typeface="Space Grotesk"/>
                <a:ea typeface="Space Grotesk"/>
                <a:cs typeface="Space Grotesk"/>
              </a:rPr>
              <a:t xml:space="preserve">Baseline</a:t>
            </a:r>
            <a:endParaRPr lang="en-AU" sz="917"/>
          </a:p>
        </p:txBody>
      </p:sp>
      <p:sp>
        <p:nvSpPr>
          <p:cNvPr id="29" name="Match"/>
          <p:cNvSpPr txBox="1"/>
          <p:nvPr/>
        </p:nvSpPr>
        <p:spPr>
          <a:xfrm>
            <a:off x="6440942" y="4214276"/>
            <a:ext cx="419100" cy="205740"/>
          </a:xfrm>
          <a:prstGeom prst="rect">
            <a:avLst/>
          </a:prstGeom>
          <a:noFill/>
          <a:ln w="7620" cap="flat">
            <a:noFill/>
            <a:round/>
          </a:ln>
        </p:spPr>
        <p:txBody>
          <a:bodyPr wrap="none" lIns="0" rIns="0" tIns="0" bIns="0" anchor="t" rtlCol="0">
            <a:noAutofit/>
          </a:bodyPr>
          <a:lstStyle/>
          <a:p>
            <a:pPr marL="0" indent="0" algn="l" fontAlgn="base">
              <a:lnSpc>
                <a:spcPts val="917"/>
              </a:lnSpc>
              <a:spcBef>
                <a:spcPts val="0"/>
              </a:spcBef>
              <a:spcAft>
                <a:spcPts val="0"/>
              </a:spcAft>
              <a:buNone/>
            </a:pPr>
            <a:r>
              <a:rPr lang="en-AU" sz="917" b="0" spc="0" dirty="0">
                <a:solidFill>
                  <a:srgbClr val="60645B"/>
                </a:solidFill>
                <a:latin typeface="Space Grotesk"/>
                <a:ea typeface="Space Grotesk"/>
                <a:cs typeface="Space Grotesk"/>
              </a:rPr>
              <a:t xml:space="preserve">Match</a:t>
            </a:r>
            <a:endParaRPr lang="en-AU" sz="917"/>
          </a:p>
        </p:txBody>
      </p:sp>
      <p:sp>
        <p:nvSpPr>
          <p:cNvPr id="30" name="Mismatch"/>
          <p:cNvSpPr txBox="1"/>
          <p:nvPr/>
        </p:nvSpPr>
        <p:spPr>
          <a:xfrm>
            <a:off x="8237957" y="4221554"/>
            <a:ext cx="609601" cy="205740"/>
          </a:xfrm>
          <a:prstGeom prst="rect">
            <a:avLst/>
          </a:prstGeom>
          <a:noFill/>
          <a:ln w="7620" cap="flat">
            <a:noFill/>
            <a:round/>
          </a:ln>
        </p:spPr>
        <p:txBody>
          <a:bodyPr wrap="none" lIns="0" rIns="0" tIns="0" bIns="0" anchor="t" rtlCol="0">
            <a:noAutofit/>
          </a:bodyPr>
          <a:lstStyle/>
          <a:p>
            <a:pPr marL="0" indent="0" algn="l" fontAlgn="base">
              <a:lnSpc>
                <a:spcPts val="917"/>
              </a:lnSpc>
              <a:spcBef>
                <a:spcPts val="0"/>
              </a:spcBef>
              <a:spcAft>
                <a:spcPts val="0"/>
              </a:spcAft>
              <a:buNone/>
            </a:pPr>
            <a:r>
              <a:rPr lang="en-AU" sz="917" b="0" spc="0" dirty="0">
                <a:solidFill>
                  <a:srgbClr val="60645B"/>
                </a:solidFill>
                <a:latin typeface="Space Grotesk"/>
                <a:ea typeface="Space Grotesk"/>
                <a:cs typeface="Space Grotesk"/>
              </a:rPr>
              <a:t xml:space="preserve">Mismatch</a:t>
            </a:r>
            <a:endParaRPr lang="en-AU" sz="917"/>
          </a:p>
        </p:txBody>
      </p:sp>
      <p:sp>
        <p:nvSpPr>
          <p:cNvPr id="31" name="Alert administrator / restore approved state"/>
          <p:cNvSpPr txBox="1"/>
          <p:nvPr/>
        </p:nvSpPr>
        <p:spPr>
          <a:xfrm>
            <a:off x="6993313" y="5124018"/>
            <a:ext cx="2560321" cy="205740"/>
          </a:xfrm>
          <a:prstGeom prst="rect">
            <a:avLst/>
          </a:prstGeom>
          <a:noFill/>
          <a:ln w="7620" cap="flat">
            <a:noFill/>
            <a:round/>
          </a:ln>
        </p:spPr>
        <p:txBody>
          <a:bodyPr wrap="none" lIns="0" rIns="0" tIns="0" bIns="0" anchor="t" rtlCol="0">
            <a:noAutofit/>
          </a:bodyPr>
          <a:lstStyle/>
          <a:p>
            <a:pPr marL="0" indent="0" algn="l" fontAlgn="base">
              <a:lnSpc>
                <a:spcPts val="917"/>
              </a:lnSpc>
              <a:spcBef>
                <a:spcPts val="0"/>
              </a:spcBef>
              <a:spcAft>
                <a:spcPts val="0"/>
              </a:spcAft>
              <a:buNone/>
            </a:pPr>
            <a:r>
              <a:rPr lang="en-AU" sz="917" b="0" spc="0" dirty="0">
                <a:solidFill>
                  <a:srgbClr val="60645B"/>
                </a:solidFill>
                <a:latin typeface="Space Grotesk"/>
                <a:ea typeface="Space Grotesk"/>
                <a:cs typeface="Space Grotesk"/>
              </a:rPr>
              <a:t xml:space="preserve">Alert administrator / restore approved state</a:t>
            </a:r>
            <a:endParaRPr lang="en-AU" sz="917"/>
          </a:p>
        </p:txBody>
      </p:sp>
      <p:sp>
        <p:nvSpPr>
          <p:cNvPr id="32" name="rect"/>
          <p:cNvSpPr/>
          <p:nvPr/>
        </p:nvSpPr>
        <p:spPr>
          <a:xfrm>
            <a:off x="4684080" y="1366454"/>
            <a:ext cx="1673926" cy="524012"/>
          </a:xfrm>
          <a:prstGeom prst="roundRect">
            <a:avLst>
              <a:gd name="adj" fmla="val 16667"/>
            </a:avLst>
          </a:prstGeom>
          <a:solidFill>
            <a:srgbClr val="20231F"/>
          </a:solidFill>
          <a:ln w="8734" cap="flat">
            <a:solidFill>
              <a:srgbClr val="20231F"/>
            </a:solidFill>
            <a:round/>
          </a:ln>
        </p:spPr>
      </p:sp>
      <p:sp>
        <p:nvSpPr>
          <p:cNvPr id="33" name="Administrator"/>
          <p:cNvSpPr txBox="1"/>
          <p:nvPr/>
        </p:nvSpPr>
        <p:spPr>
          <a:xfrm>
            <a:off x="5063843" y="1447632"/>
            <a:ext cx="975360" cy="236220"/>
          </a:xfrm>
          <a:prstGeom prst="rect">
            <a:avLst/>
          </a:prstGeom>
          <a:noFill/>
          <a:ln w="7620" cap="flat">
            <a:noFill/>
            <a:round/>
          </a:ln>
        </p:spPr>
        <p:txBody>
          <a:bodyPr wrap="none" lIns="0" rIns="0" tIns="0" bIns="0" anchor="t" rtlCol="0">
            <a:noAutofit/>
          </a:bodyPr>
          <a:lstStyle/>
          <a:p>
            <a:pPr marL="0" indent="0" algn="l" fontAlgn="base">
              <a:lnSpc>
                <a:spcPts val="1089"/>
              </a:lnSpc>
              <a:spcBef>
                <a:spcPts val="0"/>
              </a:spcBef>
              <a:spcAft>
                <a:spcPts val="0"/>
              </a:spcAft>
              <a:buNone/>
            </a:pPr>
            <a:r>
              <a:rPr lang="en-AU" sz="1089" b="0" spc="0" dirty="0">
                <a:solidFill>
                  <a:srgbClr val="F4F1E9"/>
                </a:solidFill>
                <a:latin typeface="Space Grotesk"/>
                <a:ea typeface="Space Grotesk"/>
                <a:cs typeface="Space Grotesk"/>
              </a:rPr>
              <a:t xml:space="preserve">Administrator</a:t>
            </a:r>
            <a:endParaRPr lang="en-AU" sz="1089"/>
          </a:p>
        </p:txBody>
      </p:sp>
      <p:sp>
        <p:nvSpPr>
          <p:cNvPr id="34" name="Approve / restore"/>
          <p:cNvSpPr txBox="1"/>
          <p:nvPr/>
        </p:nvSpPr>
        <p:spPr>
          <a:xfrm>
            <a:off x="5063843" y="1652783"/>
            <a:ext cx="975360" cy="198120"/>
          </a:xfrm>
          <a:prstGeom prst="rect">
            <a:avLst/>
          </a:prstGeom>
          <a:noFill/>
          <a:ln w="7620" cap="flat">
            <a:noFill/>
            <a:round/>
          </a:ln>
        </p:spPr>
        <p:txBody>
          <a:bodyPr wrap="none" lIns="0" rIns="0" tIns="0" bIns="0" anchor="t" rtlCol="0">
            <a:noAutofit/>
          </a:bodyPr>
          <a:lstStyle/>
          <a:p>
            <a:pPr marL="0" indent="0" algn="l" fontAlgn="base">
              <a:lnSpc>
                <a:spcPts val="860"/>
              </a:lnSpc>
              <a:spcBef>
                <a:spcPts val="0"/>
              </a:spcBef>
              <a:spcAft>
                <a:spcPts val="0"/>
              </a:spcAft>
              <a:buNone/>
            </a:pPr>
            <a:r>
              <a:rPr lang="en-AU" sz="860" b="0" spc="0" dirty="0">
                <a:solidFill>
                  <a:srgbClr val="DADBD1"/>
                </a:solidFill>
                <a:latin typeface="Space Grotesk"/>
                <a:ea typeface="Space Grotesk"/>
                <a:cs typeface="Space Grotesk"/>
              </a:rPr>
              <a:t xml:space="preserve">Approve / restore</a:t>
            </a:r>
            <a:endParaRPr lang="en-AU" sz="860"/>
          </a:p>
        </p:txBody>
      </p:sp>
      <p:sp>
        <p:nvSpPr>
          <p:cNvPr id="35" name="rect"/>
          <p:cNvSpPr/>
          <p:nvPr/>
        </p:nvSpPr>
        <p:spPr>
          <a:xfrm>
            <a:off x="768548" y="2938489"/>
            <a:ext cx="1426476" cy="1077135"/>
          </a:xfrm>
          <a:prstGeom prst="roundRect">
            <a:avLst>
              <a:gd name="adj" fmla="val 8108"/>
            </a:avLst>
          </a:prstGeom>
          <a:solidFill>
            <a:srgbClr val="F4F1E9"/>
          </a:solidFill>
          <a:ln w="8734" cap="flat">
            <a:solidFill>
              <a:srgbClr val="D2D3C8"/>
            </a:solidFill>
            <a:round/>
          </a:ln>
        </p:spPr>
      </p:sp>
      <p:sp>
        <p:nvSpPr>
          <p:cNvPr id="36" name="Device parameters"/>
          <p:cNvSpPr txBox="1"/>
          <p:nvPr/>
        </p:nvSpPr>
        <p:spPr>
          <a:xfrm>
            <a:off x="899551" y="3012731"/>
            <a:ext cx="1242060" cy="228600"/>
          </a:xfrm>
          <a:prstGeom prst="rect">
            <a:avLst/>
          </a:prstGeom>
          <a:noFill/>
          <a:ln w="7620" cap="flat">
            <a:noFill/>
            <a:round/>
          </a:ln>
        </p:spPr>
        <p:txBody>
          <a:bodyPr wrap="none" lIns="0" rIns="0" tIns="0" bIns="0" anchor="t" rtlCol="0">
            <a:noAutofit/>
          </a:bodyPr>
          <a:lstStyle/>
          <a:p>
            <a:pPr marL="0" indent="0" algn="l" fontAlgn="base">
              <a:lnSpc>
                <a:spcPts val="1032"/>
              </a:lnSpc>
              <a:spcBef>
                <a:spcPts val="0"/>
              </a:spcBef>
              <a:spcAft>
                <a:spcPts val="0"/>
              </a:spcAft>
              <a:buNone/>
            </a:pPr>
            <a:r>
              <a:rPr lang="en-AU" sz="1032" b="0" spc="0" dirty="0">
                <a:solidFill>
                  <a:srgbClr val="20231F"/>
                </a:solidFill>
                <a:latin typeface="Space Grotesk"/>
                <a:ea typeface="Space Grotesk"/>
                <a:cs typeface="Space Grotesk"/>
              </a:rPr>
              <a:t xml:space="preserve">Device parameters</a:t>
            </a:r>
            <a:endParaRPr lang="en-AU" sz="1032"/>
          </a:p>
        </p:txBody>
      </p:sp>
      <p:sp>
        <p:nvSpPr>
          <p:cNvPr id="37" name="Hardware"/>
          <p:cNvSpPr txBox="1"/>
          <p:nvPr/>
        </p:nvSpPr>
        <p:spPr>
          <a:xfrm>
            <a:off x="899551" y="3224134"/>
            <a:ext cx="624840" cy="220980"/>
          </a:xfrm>
          <a:prstGeom prst="rect">
            <a:avLst/>
          </a:prstGeom>
          <a:noFill/>
          <a:ln w="7620" cap="flat">
            <a:noFill/>
            <a:round/>
          </a:ln>
        </p:spPr>
        <p:txBody>
          <a:bodyPr wrap="none" lIns="0" rIns="0" tIns="0" bIns="0" anchor="t" rtlCol="0">
            <a:noAutofit/>
          </a:bodyPr>
          <a:lstStyle/>
          <a:p>
            <a:pPr marL="0" indent="0" algn="l" fontAlgn="base">
              <a:lnSpc>
                <a:spcPts val="974"/>
              </a:lnSpc>
              <a:spcBef>
                <a:spcPts val="0"/>
              </a:spcBef>
              <a:spcAft>
                <a:spcPts val="0"/>
              </a:spcAft>
              <a:buNone/>
            </a:pPr>
            <a:r>
              <a:rPr lang="en-AU" sz="974" b="0" spc="0" dirty="0">
                <a:solidFill>
                  <a:srgbClr val="20231F"/>
                </a:solidFill>
                <a:latin typeface="Space Grotesk"/>
                <a:ea typeface="Space Grotesk"/>
                <a:cs typeface="Space Grotesk"/>
              </a:rPr>
              <a:t xml:space="preserve">Hardware</a:t>
            </a:r>
            <a:endParaRPr lang="en-AU" sz="974"/>
          </a:p>
        </p:txBody>
      </p:sp>
      <p:sp>
        <p:nvSpPr>
          <p:cNvPr id="38" name="Software"/>
          <p:cNvSpPr txBox="1"/>
          <p:nvPr/>
        </p:nvSpPr>
        <p:spPr>
          <a:xfrm>
            <a:off x="899551" y="3391526"/>
            <a:ext cx="609600" cy="220980"/>
          </a:xfrm>
          <a:prstGeom prst="rect">
            <a:avLst/>
          </a:prstGeom>
          <a:noFill/>
          <a:ln w="7620" cap="flat">
            <a:noFill/>
            <a:round/>
          </a:ln>
        </p:spPr>
        <p:txBody>
          <a:bodyPr wrap="none" lIns="0" rIns="0" tIns="0" bIns="0" anchor="t" rtlCol="0">
            <a:noAutofit/>
          </a:bodyPr>
          <a:lstStyle/>
          <a:p>
            <a:pPr marL="0" indent="0" algn="l" fontAlgn="base">
              <a:lnSpc>
                <a:spcPts val="974"/>
              </a:lnSpc>
              <a:spcBef>
                <a:spcPts val="0"/>
              </a:spcBef>
              <a:spcAft>
                <a:spcPts val="0"/>
              </a:spcAft>
              <a:buNone/>
            </a:pPr>
            <a:r>
              <a:rPr lang="en-AU" sz="974" b="0" spc="0" dirty="0">
                <a:solidFill>
                  <a:srgbClr val="20231F"/>
                </a:solidFill>
                <a:latin typeface="Space Grotesk"/>
                <a:ea typeface="Space Grotesk"/>
                <a:cs typeface="Space Grotesk"/>
              </a:rPr>
              <a:t xml:space="preserve">Software</a:t>
            </a:r>
            <a:endParaRPr lang="en-AU" sz="974"/>
          </a:p>
        </p:txBody>
      </p:sp>
      <p:sp>
        <p:nvSpPr>
          <p:cNvPr id="39" name="Network / config"/>
          <p:cNvSpPr txBox="1"/>
          <p:nvPr/>
        </p:nvSpPr>
        <p:spPr>
          <a:xfrm>
            <a:off x="899551" y="3558919"/>
            <a:ext cx="1059180" cy="220980"/>
          </a:xfrm>
          <a:prstGeom prst="rect">
            <a:avLst/>
          </a:prstGeom>
          <a:noFill/>
          <a:ln w="7620" cap="flat">
            <a:noFill/>
            <a:round/>
          </a:ln>
        </p:spPr>
        <p:txBody>
          <a:bodyPr wrap="none" lIns="0" rIns="0" tIns="0" bIns="0" anchor="t" rtlCol="0">
            <a:noAutofit/>
          </a:bodyPr>
          <a:lstStyle/>
          <a:p>
            <a:pPr marL="0" indent="0" algn="l" fontAlgn="base">
              <a:lnSpc>
                <a:spcPts val="974"/>
              </a:lnSpc>
              <a:spcBef>
                <a:spcPts val="0"/>
              </a:spcBef>
              <a:spcAft>
                <a:spcPts val="0"/>
              </a:spcAft>
              <a:buNone/>
            </a:pPr>
            <a:r>
              <a:rPr lang="en-AU" sz="974" b="0" spc="0" dirty="0">
                <a:solidFill>
                  <a:srgbClr val="20231F"/>
                </a:solidFill>
                <a:latin typeface="Space Grotesk"/>
                <a:ea typeface="Space Grotesk"/>
                <a:cs typeface="Space Grotesk"/>
              </a:rPr>
              <a:t xml:space="preserve">Network / config</a:t>
            </a:r>
            <a:endParaRPr lang="en-AU" sz="974"/>
          </a:p>
        </p:txBody>
      </p:sp>
      <p:sp>
        <p:nvSpPr>
          <p:cNvPr id="40" name="Environment"/>
          <p:cNvSpPr txBox="1"/>
          <p:nvPr/>
        </p:nvSpPr>
        <p:spPr>
          <a:xfrm>
            <a:off x="899551" y="3726312"/>
            <a:ext cx="815340" cy="220980"/>
          </a:xfrm>
          <a:prstGeom prst="rect">
            <a:avLst/>
          </a:prstGeom>
          <a:noFill/>
          <a:ln w="7620" cap="flat">
            <a:noFill/>
            <a:round/>
          </a:ln>
        </p:spPr>
        <p:txBody>
          <a:bodyPr wrap="none" lIns="0" rIns="0" tIns="0" bIns="0" anchor="t" rtlCol="0">
            <a:noAutofit/>
          </a:bodyPr>
          <a:lstStyle/>
          <a:p>
            <a:pPr marL="0" indent="0" algn="l" fontAlgn="base">
              <a:lnSpc>
                <a:spcPts val="974"/>
              </a:lnSpc>
              <a:spcBef>
                <a:spcPts val="0"/>
              </a:spcBef>
              <a:spcAft>
                <a:spcPts val="0"/>
              </a:spcAft>
              <a:buNone/>
            </a:pPr>
            <a:r>
              <a:rPr lang="en-AU" sz="974" b="0" spc="0" dirty="0">
                <a:solidFill>
                  <a:srgbClr val="20231F"/>
                </a:solidFill>
                <a:latin typeface="Space Grotesk"/>
                <a:ea typeface="Space Grotesk"/>
                <a:cs typeface="Space Grotesk"/>
              </a:rPr>
              <a:t xml:space="preserve">Environment</a:t>
            </a:r>
            <a:endParaRPr lang="en-AU" sz="974"/>
          </a:p>
        </p:txBody>
      </p:sp>
      <p:sp>
        <p:nvSpPr>
          <p:cNvPr id="41" name="circle"/>
          <p:cNvSpPr/>
          <p:nvPr/>
        </p:nvSpPr>
        <p:spPr>
          <a:xfrm>
            <a:off x="2042187" y="3280552"/>
            <a:ext cx="43668" cy="43668"/>
          </a:xfrm>
          <a:prstGeom prst="ellipse">
            <a:avLst/>
          </a:prstGeom>
          <a:solidFill>
            <a:srgbClr val="214BE0"/>
          </a:solidFill>
          <a:ln w="7278" cap="flat">
            <a:noFill/>
            <a:round/>
          </a:ln>
        </p:spPr>
      </p:sp>
      <p:sp>
        <p:nvSpPr>
          <p:cNvPr id="42" name="circle"/>
          <p:cNvSpPr/>
          <p:nvPr/>
        </p:nvSpPr>
        <p:spPr>
          <a:xfrm>
            <a:off x="2042187" y="3447945"/>
            <a:ext cx="43668" cy="43668"/>
          </a:xfrm>
          <a:prstGeom prst="ellipse">
            <a:avLst/>
          </a:prstGeom>
          <a:solidFill>
            <a:srgbClr val="214BE0"/>
          </a:solidFill>
          <a:ln w="7278" cap="flat">
            <a:noFill/>
            <a:round/>
          </a:ln>
        </p:spPr>
      </p:sp>
      <p:sp>
        <p:nvSpPr>
          <p:cNvPr id="43" name="circle"/>
          <p:cNvSpPr/>
          <p:nvPr/>
        </p:nvSpPr>
        <p:spPr>
          <a:xfrm>
            <a:off x="2042187" y="3615337"/>
            <a:ext cx="43668" cy="43668"/>
          </a:xfrm>
          <a:prstGeom prst="ellipse">
            <a:avLst/>
          </a:prstGeom>
          <a:solidFill>
            <a:srgbClr val="214BE0"/>
          </a:solidFill>
          <a:ln w="7278" cap="flat">
            <a:noFill/>
            <a:round/>
          </a:ln>
        </p:spPr>
      </p:sp>
      <p:sp>
        <p:nvSpPr>
          <p:cNvPr id="44" name="circle"/>
          <p:cNvSpPr/>
          <p:nvPr/>
        </p:nvSpPr>
        <p:spPr>
          <a:xfrm>
            <a:off x="2042187" y="3782730"/>
            <a:ext cx="43668" cy="43668"/>
          </a:xfrm>
          <a:prstGeom prst="ellipse">
            <a:avLst/>
          </a:prstGeom>
          <a:solidFill>
            <a:srgbClr val="214BE0"/>
          </a:solidFill>
          <a:ln w="7278" cap="flat">
            <a:noFill/>
            <a:round/>
          </a:ln>
        </p:spPr>
      </p:sp>
      <p:sp>
        <p:nvSpPr>
          <p:cNvPr id="45" name="circle"/>
          <p:cNvSpPr/>
          <p:nvPr/>
        </p:nvSpPr>
        <p:spPr>
          <a:xfrm>
            <a:off x="2762704" y="3033102"/>
            <a:ext cx="902465" cy="902465"/>
          </a:xfrm>
          <a:prstGeom prst="ellipse">
            <a:avLst/>
          </a:prstGeom>
          <a:solidFill>
            <a:srgbClr val="214BE0"/>
          </a:solidFill>
          <a:ln w="7278" cap="flat">
            <a:noFill/>
            <a:round/>
          </a:ln>
        </p:spPr>
      </p:sp>
      <p:sp>
        <p:nvSpPr>
          <p:cNvPr id="46" name="circle"/>
          <p:cNvSpPr/>
          <p:nvPr/>
        </p:nvSpPr>
        <p:spPr>
          <a:xfrm>
            <a:off x="2704480" y="2974879"/>
            <a:ext cx="1018912" cy="1018912"/>
          </a:xfrm>
          <a:prstGeom prst="ellipse">
            <a:avLst/>
          </a:prstGeom>
          <a:noFill/>
          <a:ln w="7278" cap="flat">
            <a:solidFill>
              <a:srgbClr val="214BE0">
                <a:alpha val="55000"/>
              </a:srgbClr>
            </a:solidFill>
            <a:round/>
          </a:ln>
        </p:spPr>
      </p:sp>
      <p:sp>
        <p:nvSpPr>
          <p:cNvPr id="47" name="SHA-256"/>
          <p:cNvSpPr txBox="1"/>
          <p:nvPr/>
        </p:nvSpPr>
        <p:spPr>
          <a:xfrm>
            <a:off x="2867226" y="3265749"/>
            <a:ext cx="754380" cy="274320"/>
          </a:xfrm>
          <a:prstGeom prst="rect">
            <a:avLst/>
          </a:prstGeom>
          <a:noFill/>
          <a:ln w="7620" cap="flat">
            <a:noFill/>
            <a:round/>
          </a:ln>
        </p:spPr>
        <p:txBody>
          <a:bodyPr wrap="none" lIns="0" rIns="0" tIns="0" bIns="0" anchor="t" rtlCol="0">
            <a:noAutofit/>
          </a:bodyPr>
          <a:lstStyle/>
          <a:p>
            <a:pPr marL="0" indent="0" algn="l" fontAlgn="base">
              <a:lnSpc>
                <a:spcPts val="1318"/>
              </a:lnSpc>
              <a:spcBef>
                <a:spcPts val="0"/>
              </a:spcBef>
              <a:spcAft>
                <a:spcPts val="0"/>
              </a:spcAft>
              <a:buNone/>
            </a:pPr>
            <a:r>
              <a:rPr lang="en-AU" sz="1318" b="1" spc="0" dirty="0">
                <a:solidFill>
                  <a:srgbClr val="F4F1E9"/>
                </a:solidFill>
                <a:latin typeface="Space Grotesk"/>
                <a:ea typeface="Space Grotesk"/>
                <a:cs typeface="Space Grotesk"/>
              </a:rPr>
              <a:t xml:space="preserve">SHA-256</a:t>
            </a:r>
            <a:endParaRPr lang="en-AU" sz="1318"/>
          </a:p>
        </p:txBody>
      </p:sp>
      <p:sp>
        <p:nvSpPr>
          <p:cNvPr id="48" name="I2Map generator"/>
          <p:cNvSpPr txBox="1"/>
          <p:nvPr/>
        </p:nvSpPr>
        <p:spPr>
          <a:xfrm>
            <a:off x="2802456" y="3501722"/>
            <a:ext cx="883920" cy="190500"/>
          </a:xfrm>
          <a:prstGeom prst="rect">
            <a:avLst/>
          </a:prstGeom>
          <a:noFill/>
          <a:ln w="7620" cap="flat">
            <a:noFill/>
            <a:round/>
          </a:ln>
        </p:spPr>
        <p:txBody>
          <a:bodyPr wrap="none" lIns="0" rIns="0" tIns="0" bIns="0" anchor="t" rtlCol="0">
            <a:noAutofit/>
          </a:bodyPr>
          <a:lstStyle/>
          <a:p>
            <a:pPr marL="0" indent="0" algn="l" fontAlgn="base">
              <a:lnSpc>
                <a:spcPts val="802"/>
              </a:lnSpc>
              <a:spcBef>
                <a:spcPts val="0"/>
              </a:spcBef>
              <a:spcAft>
                <a:spcPts val="0"/>
              </a:spcAft>
              <a:buNone/>
            </a:pPr>
            <a:r>
              <a:rPr lang="en-AU" sz="802" b="0" spc="0" dirty="0">
                <a:solidFill>
                  <a:srgbClr val="F4F1E9"/>
                </a:solidFill>
                <a:latin typeface="Space Grotesk"/>
                <a:ea typeface="Space Grotesk"/>
                <a:cs typeface="Space Grotesk"/>
              </a:rPr>
              <a:t xml:space="preserve">I2Map generator</a:t>
            </a:r>
            <a:endParaRPr lang="en-AU" sz="802"/>
          </a:p>
        </p:txBody>
      </p:sp>
      <p:sp>
        <p:nvSpPr>
          <p:cNvPr id="49" name="Parameters → digest"/>
          <p:cNvSpPr txBox="1"/>
          <p:nvPr/>
        </p:nvSpPr>
        <p:spPr>
          <a:xfrm>
            <a:off x="2600526" y="4031985"/>
            <a:ext cx="1287780" cy="220980"/>
          </a:xfrm>
          <a:prstGeom prst="rect">
            <a:avLst/>
          </a:prstGeom>
          <a:noFill/>
          <a:ln w="7620" cap="flat">
            <a:noFill/>
            <a:round/>
          </a:ln>
        </p:spPr>
        <p:txBody>
          <a:bodyPr wrap="none" lIns="0" rIns="0" tIns="0" bIns="0" anchor="t" rtlCol="0">
            <a:noAutofit/>
          </a:bodyPr>
          <a:lstStyle/>
          <a:p>
            <a:pPr marL="0" indent="0" algn="l" fontAlgn="base">
              <a:lnSpc>
                <a:spcPts val="974"/>
              </a:lnSpc>
              <a:spcBef>
                <a:spcPts val="0"/>
              </a:spcBef>
              <a:spcAft>
                <a:spcPts val="0"/>
              </a:spcAft>
              <a:buNone/>
            </a:pPr>
            <a:r>
              <a:rPr lang="en-AU" sz="974" b="0" spc="0" dirty="0">
                <a:solidFill>
                  <a:srgbClr val="60645B"/>
                </a:solidFill>
                <a:latin typeface="Space Grotesk"/>
                <a:ea typeface="Space Grotesk"/>
                <a:cs typeface="Space Grotesk"/>
              </a:rPr>
              <a:t xml:space="preserve">Parameters → digest</a:t>
            </a:r>
            <a:endParaRPr lang="en-AU" sz="974"/>
          </a:p>
        </p:txBody>
      </p:sp>
      <p:sp>
        <p:nvSpPr>
          <p:cNvPr id="50" name="rect"/>
          <p:cNvSpPr/>
          <p:nvPr/>
        </p:nvSpPr>
        <p:spPr>
          <a:xfrm>
            <a:off x="2544365" y="4233962"/>
            <a:ext cx="1346419" cy="349341"/>
          </a:xfrm>
          <a:prstGeom prst="roundRect">
            <a:avLst>
              <a:gd name="adj" fmla="val 18750"/>
            </a:avLst>
          </a:prstGeom>
          <a:solidFill>
            <a:srgbClr val="F4F1E9"/>
          </a:solidFill>
          <a:ln w="8734" cap="flat">
            <a:solidFill>
              <a:srgbClr val="08766B"/>
            </a:solidFill>
            <a:round/>
          </a:ln>
        </p:spPr>
      </p:sp>
      <p:sp>
        <p:nvSpPr>
          <p:cNvPr id="51" name="Sensor data"/>
          <p:cNvSpPr txBox="1"/>
          <p:nvPr/>
        </p:nvSpPr>
        <p:spPr>
          <a:xfrm>
            <a:off x="2863416" y="4330381"/>
            <a:ext cx="762000" cy="220980"/>
          </a:xfrm>
          <a:prstGeom prst="rect">
            <a:avLst/>
          </a:prstGeom>
          <a:noFill/>
          <a:ln w="7620" cap="flat">
            <a:noFill/>
            <a:round/>
          </a:ln>
        </p:spPr>
        <p:txBody>
          <a:bodyPr wrap="none" lIns="0" rIns="0" tIns="0" bIns="0" anchor="t" rtlCol="0">
            <a:noAutofit/>
          </a:bodyPr>
          <a:lstStyle/>
          <a:p>
            <a:pPr marL="0" indent="0" algn="l" fontAlgn="base">
              <a:lnSpc>
                <a:spcPts val="974"/>
              </a:lnSpc>
              <a:spcBef>
                <a:spcPts val="0"/>
              </a:spcBef>
              <a:spcAft>
                <a:spcPts val="0"/>
              </a:spcAft>
              <a:buNone/>
            </a:pPr>
            <a:r>
              <a:rPr lang="en-AU" sz="974" b="0" spc="0" dirty="0">
                <a:solidFill>
                  <a:srgbClr val="08766B"/>
                </a:solidFill>
                <a:latin typeface="Space Grotesk"/>
                <a:ea typeface="Space Grotesk"/>
                <a:cs typeface="Space Grotesk"/>
              </a:rPr>
              <a:t xml:space="preserve">Sensor data</a:t>
            </a:r>
            <a:endParaRPr lang="en-AU" sz="974"/>
          </a:p>
        </p:txBody>
      </p:sp>
      <p:sp>
        <p:nvSpPr>
          <p:cNvPr id="52" name="rect"/>
          <p:cNvSpPr/>
          <p:nvPr/>
        </p:nvSpPr>
        <p:spPr>
          <a:xfrm>
            <a:off x="4247403" y="3047658"/>
            <a:ext cx="1193582" cy="946132"/>
          </a:xfrm>
          <a:prstGeom prst="roundRect">
            <a:avLst>
              <a:gd name="adj" fmla="val 9231"/>
            </a:avLst>
          </a:prstGeom>
          <a:solidFill>
            <a:srgbClr val="E6EBFC"/>
          </a:solidFill>
          <a:ln w="8734" cap="flat">
            <a:solidFill>
              <a:srgbClr val="214BE0"/>
            </a:solidFill>
            <a:round/>
          </a:ln>
        </p:spPr>
      </p:sp>
      <p:sp>
        <p:nvSpPr>
          <p:cNvPr id="53" name="CyberScope"/>
          <p:cNvSpPr txBox="1"/>
          <p:nvPr/>
        </p:nvSpPr>
        <p:spPr>
          <a:xfrm>
            <a:off x="4428905" y="3128836"/>
            <a:ext cx="891540" cy="236220"/>
          </a:xfrm>
          <a:prstGeom prst="rect">
            <a:avLst/>
          </a:prstGeom>
          <a:noFill/>
          <a:ln w="7620" cap="flat">
            <a:noFill/>
            <a:round/>
          </a:ln>
        </p:spPr>
        <p:txBody>
          <a:bodyPr wrap="none" lIns="0" rIns="0" tIns="0" bIns="0" anchor="t" rtlCol="0">
            <a:noAutofit/>
          </a:bodyPr>
          <a:lstStyle/>
          <a:p>
            <a:pPr marL="0" indent="0" algn="l" fontAlgn="base">
              <a:lnSpc>
                <a:spcPts val="1089"/>
              </a:lnSpc>
              <a:spcBef>
                <a:spcPts val="0"/>
              </a:spcBef>
              <a:spcAft>
                <a:spcPts val="0"/>
              </a:spcAft>
              <a:buNone/>
            </a:pPr>
            <a:r>
              <a:rPr lang="en-AU" sz="1089" b="0" spc="0" dirty="0">
                <a:solidFill>
                  <a:srgbClr val="20231F"/>
                </a:solidFill>
                <a:latin typeface="Space Grotesk"/>
                <a:ea typeface="Space Grotesk"/>
                <a:cs typeface="Space Grotesk"/>
              </a:rPr>
              <a:t xml:space="preserve">CyberScope</a:t>
            </a:r>
            <a:endParaRPr lang="en-AU" sz="1089"/>
          </a:p>
        </p:txBody>
      </p:sp>
      <p:sp>
        <p:nvSpPr>
          <p:cNvPr id="54" name="attestation"/>
          <p:cNvSpPr txBox="1"/>
          <p:nvPr/>
        </p:nvSpPr>
        <p:spPr>
          <a:xfrm>
            <a:off x="4474625" y="3310785"/>
            <a:ext cx="800100" cy="236220"/>
          </a:xfrm>
          <a:prstGeom prst="rect">
            <a:avLst/>
          </a:prstGeom>
          <a:noFill/>
          <a:ln w="7620" cap="flat">
            <a:noFill/>
            <a:round/>
          </a:ln>
        </p:spPr>
        <p:txBody>
          <a:bodyPr wrap="none" lIns="0" rIns="0" tIns="0" bIns="0" anchor="t" rtlCol="0">
            <a:noAutofit/>
          </a:bodyPr>
          <a:lstStyle/>
          <a:p>
            <a:pPr marL="0" indent="0" algn="l" fontAlgn="base">
              <a:lnSpc>
                <a:spcPts val="1089"/>
              </a:lnSpc>
              <a:spcBef>
                <a:spcPts val="0"/>
              </a:spcBef>
              <a:spcAft>
                <a:spcPts val="0"/>
              </a:spcAft>
              <a:buNone/>
            </a:pPr>
            <a:r>
              <a:rPr lang="en-AU" sz="1089" b="0" spc="0" dirty="0">
                <a:solidFill>
                  <a:srgbClr val="20231F"/>
                </a:solidFill>
                <a:latin typeface="Space Grotesk"/>
                <a:ea typeface="Space Grotesk"/>
                <a:cs typeface="Space Grotesk"/>
              </a:rPr>
              <a:t xml:space="preserve">attestation</a:t>
            </a:r>
            <a:endParaRPr lang="en-AU" sz="1089"/>
          </a:p>
        </p:txBody>
      </p:sp>
      <p:sp>
        <p:nvSpPr>
          <p:cNvPr id="55" name="agent"/>
          <p:cNvSpPr txBox="1"/>
          <p:nvPr/>
        </p:nvSpPr>
        <p:spPr>
          <a:xfrm>
            <a:off x="4646075" y="3492734"/>
            <a:ext cx="457200" cy="236220"/>
          </a:xfrm>
          <a:prstGeom prst="rect">
            <a:avLst/>
          </a:prstGeom>
          <a:noFill/>
          <a:ln w="7620" cap="flat">
            <a:noFill/>
            <a:round/>
          </a:ln>
        </p:spPr>
        <p:txBody>
          <a:bodyPr wrap="none" lIns="0" rIns="0" tIns="0" bIns="0" anchor="t" rtlCol="0">
            <a:noAutofit/>
          </a:bodyPr>
          <a:lstStyle/>
          <a:p>
            <a:pPr marL="0" indent="0" algn="l" fontAlgn="base">
              <a:lnSpc>
                <a:spcPts val="1089"/>
              </a:lnSpc>
              <a:spcBef>
                <a:spcPts val="0"/>
              </a:spcBef>
              <a:spcAft>
                <a:spcPts val="0"/>
              </a:spcAft>
              <a:buNone/>
            </a:pPr>
            <a:r>
              <a:rPr lang="en-AU" sz="1089" b="0" spc="0" dirty="0">
                <a:solidFill>
                  <a:srgbClr val="20231F"/>
                </a:solidFill>
                <a:latin typeface="Space Grotesk"/>
                <a:ea typeface="Space Grotesk"/>
                <a:cs typeface="Space Grotesk"/>
              </a:rPr>
              <a:t xml:space="preserve">agent</a:t>
            </a:r>
            <a:endParaRPr lang="en-AU" sz="1089"/>
          </a:p>
        </p:txBody>
      </p:sp>
      <p:sp>
        <p:nvSpPr>
          <p:cNvPr id="56" name="Submit I2Map"/>
          <p:cNvSpPr txBox="1"/>
          <p:nvPr/>
        </p:nvSpPr>
        <p:spPr>
          <a:xfrm>
            <a:off x="4508915" y="3734616"/>
            <a:ext cx="731520" cy="190500"/>
          </a:xfrm>
          <a:prstGeom prst="rect">
            <a:avLst/>
          </a:prstGeom>
          <a:noFill/>
          <a:ln w="7620" cap="flat">
            <a:noFill/>
            <a:round/>
          </a:ln>
        </p:spPr>
        <p:txBody>
          <a:bodyPr wrap="none" lIns="0" rIns="0" tIns="0" bIns="0" anchor="t" rtlCol="0">
            <a:noAutofit/>
          </a:bodyPr>
          <a:lstStyle/>
          <a:p>
            <a:pPr marL="0" indent="0" algn="l" fontAlgn="base">
              <a:lnSpc>
                <a:spcPts val="802"/>
              </a:lnSpc>
              <a:spcBef>
                <a:spcPts val="0"/>
              </a:spcBef>
              <a:spcAft>
                <a:spcPts val="0"/>
              </a:spcAft>
              <a:buNone/>
            </a:pPr>
            <a:r>
              <a:rPr lang="en-AU" sz="802" b="0" spc="0" dirty="0">
                <a:solidFill>
                  <a:srgbClr val="60645B"/>
                </a:solidFill>
                <a:latin typeface="Space Grotesk"/>
                <a:ea typeface="Space Grotesk"/>
                <a:cs typeface="Space Grotesk"/>
              </a:rPr>
              <a:t xml:space="preserve">Submit I2Map</a:t>
            </a:r>
            <a:endParaRPr lang="en-AU" sz="802"/>
          </a:p>
        </p:txBody>
      </p:sp>
      <p:sp>
        <p:nvSpPr>
          <p:cNvPr id="57" name="rect"/>
          <p:cNvSpPr/>
          <p:nvPr/>
        </p:nvSpPr>
        <p:spPr>
          <a:xfrm>
            <a:off x="6212447" y="2974879"/>
            <a:ext cx="2197938" cy="1048023"/>
          </a:xfrm>
          <a:prstGeom prst="roundRect">
            <a:avLst>
              <a:gd name="adj" fmla="val 8333"/>
            </a:avLst>
          </a:prstGeom>
          <a:solidFill>
            <a:srgbClr val="F4F1E9"/>
          </a:solidFill>
          <a:ln w="8734" cap="flat">
            <a:solidFill>
              <a:srgbClr val="08766B"/>
            </a:solidFill>
            <a:round/>
          </a:ln>
        </p:spPr>
      </p:sp>
      <p:sp>
        <p:nvSpPr>
          <p:cNvPr id="58" name="Verifier service"/>
          <p:cNvSpPr txBox="1"/>
          <p:nvPr/>
        </p:nvSpPr>
        <p:spPr>
          <a:xfrm>
            <a:off x="6804686" y="3070613"/>
            <a:ext cx="1074420" cy="236220"/>
          </a:xfrm>
          <a:prstGeom prst="rect">
            <a:avLst/>
          </a:prstGeom>
          <a:noFill/>
          <a:ln w="7620" cap="flat">
            <a:noFill/>
            <a:round/>
          </a:ln>
        </p:spPr>
        <p:txBody>
          <a:bodyPr wrap="none" lIns="0" rIns="0" tIns="0" bIns="0" anchor="t" rtlCol="0">
            <a:noAutofit/>
          </a:bodyPr>
          <a:lstStyle/>
          <a:p>
            <a:pPr marL="0" indent="0" algn="l" fontAlgn="base">
              <a:lnSpc>
                <a:spcPts val="1089"/>
              </a:lnSpc>
              <a:spcBef>
                <a:spcPts val="0"/>
              </a:spcBef>
              <a:spcAft>
                <a:spcPts val="0"/>
              </a:spcAft>
              <a:buNone/>
            </a:pPr>
            <a:r>
              <a:rPr lang="en-AU" sz="1089" b="0" spc="0" dirty="0">
                <a:solidFill>
                  <a:srgbClr val="20231F"/>
                </a:solidFill>
                <a:latin typeface="Space Grotesk"/>
                <a:ea typeface="Space Grotesk"/>
                <a:cs typeface="Space Grotesk"/>
              </a:rPr>
              <a:t xml:space="preserve">Verifier service</a:t>
            </a:r>
            <a:endParaRPr lang="en-AU" sz="1089"/>
          </a:p>
        </p:txBody>
      </p:sp>
      <p:sp>
        <p:nvSpPr>
          <p:cNvPr id="59" name="Compare runtime with baseline"/>
          <p:cNvSpPr txBox="1"/>
          <p:nvPr/>
        </p:nvSpPr>
        <p:spPr>
          <a:xfrm>
            <a:off x="6492266" y="3304875"/>
            <a:ext cx="1699260" cy="198120"/>
          </a:xfrm>
          <a:prstGeom prst="rect">
            <a:avLst/>
          </a:prstGeom>
          <a:noFill/>
          <a:ln w="7620" cap="flat">
            <a:noFill/>
            <a:round/>
          </a:ln>
        </p:spPr>
        <p:txBody>
          <a:bodyPr wrap="none" lIns="0" rIns="0" tIns="0" bIns="0" anchor="t" rtlCol="0">
            <a:noAutofit/>
          </a:bodyPr>
          <a:lstStyle/>
          <a:p>
            <a:pPr marL="0" indent="0" algn="l" fontAlgn="base">
              <a:lnSpc>
                <a:spcPts val="860"/>
              </a:lnSpc>
              <a:spcBef>
                <a:spcPts val="0"/>
              </a:spcBef>
              <a:spcAft>
                <a:spcPts val="0"/>
              </a:spcAft>
              <a:buNone/>
            </a:pPr>
            <a:r>
              <a:rPr lang="en-AU" sz="860" b="0" spc="0" dirty="0">
                <a:solidFill>
                  <a:srgbClr val="60645B"/>
                </a:solidFill>
                <a:latin typeface="Space Grotesk"/>
                <a:ea typeface="Space Grotesk"/>
                <a:cs typeface="Space Grotesk"/>
              </a:rPr>
              <a:t xml:space="preserve">Compare runtime with baseline</a:t>
            </a:r>
            <a:endParaRPr lang="en-AU" sz="860"/>
          </a:p>
        </p:txBody>
      </p:sp>
      <p:sp>
        <p:nvSpPr>
          <p:cNvPr id="60" name="comparison-text"/>
          <p:cNvSpPr txBox="1"/>
          <p:nvPr/>
        </p:nvSpPr>
        <p:spPr>
          <a:xfrm>
            <a:off x="6729319" y="3616801"/>
            <a:ext cx="1225153" cy="220980"/>
          </a:xfrm>
          <a:prstGeom prst="rect">
            <a:avLst/>
          </a:prstGeom>
          <a:noFill/>
          <a:ln w="7620" cap="flat">
            <a:noFill/>
            <a:round/>
          </a:ln>
        </p:spPr>
        <p:txBody>
          <a:bodyPr wrap="none" lIns="0" rIns="0" tIns="0" bIns="0" anchor="t" rtlCol="0">
            <a:noAutofit/>
          </a:bodyPr>
          <a:lstStyle/>
          <a:p>
            <a:pPr marL="0" indent="0" algn="l" fontAlgn="base">
              <a:lnSpc>
                <a:spcPts val="1089"/>
              </a:lnSpc>
              <a:spcBef>
                <a:spcPts val="0"/>
              </a:spcBef>
              <a:spcAft>
                <a:spcPts val="0"/>
              </a:spcAft>
              <a:buNone/>
            </a:pPr>
            <a:r>
              <a:rPr lang="en-AU" sz="1089" b="0" spc="0" dirty="0">
                <a:solidFill>
                  <a:srgbClr val="214BE0"/>
                </a:solidFill>
                <a:latin typeface="Consolas"/>
                <a:ea typeface="Consolas"/>
                <a:cs typeface="Consolas"/>
              </a:rPr>
              <a:t xml:space="preserve">Compare I2Maps</a:t>
            </a:r>
            <a:endParaRPr lang="en-AU" sz="1089"/>
          </a:p>
        </p:txBody>
      </p:sp>
      <p:sp>
        <p:nvSpPr>
          <p:cNvPr id="61" name="rect"/>
          <p:cNvSpPr/>
          <p:nvPr/>
        </p:nvSpPr>
        <p:spPr>
          <a:xfrm>
            <a:off x="9050844" y="2858432"/>
            <a:ext cx="2197938" cy="509456"/>
          </a:xfrm>
          <a:prstGeom prst="roundRect">
            <a:avLst>
              <a:gd name="adj" fmla="val 17143"/>
            </a:avLst>
          </a:prstGeom>
          <a:solidFill>
            <a:srgbClr val="F4F1E9"/>
          </a:solidFill>
          <a:ln w="8734" cap="flat">
            <a:solidFill>
              <a:srgbClr val="214BE0"/>
            </a:solidFill>
            <a:round/>
          </a:ln>
        </p:spPr>
      </p:sp>
      <p:sp>
        <p:nvSpPr>
          <p:cNvPr id="62" name="Hash-storage contract"/>
          <p:cNvSpPr txBox="1"/>
          <p:nvPr/>
        </p:nvSpPr>
        <p:spPr>
          <a:xfrm>
            <a:off x="9380193" y="2925054"/>
            <a:ext cx="1600200" cy="236220"/>
          </a:xfrm>
          <a:prstGeom prst="rect">
            <a:avLst/>
          </a:prstGeom>
          <a:noFill/>
          <a:ln w="7620" cap="flat">
            <a:noFill/>
            <a:round/>
          </a:ln>
        </p:spPr>
        <p:txBody>
          <a:bodyPr wrap="none" lIns="0" rIns="0" tIns="0" bIns="0" anchor="t" rtlCol="0">
            <a:noAutofit/>
          </a:bodyPr>
          <a:lstStyle/>
          <a:p>
            <a:pPr marL="0" indent="0" algn="l" fontAlgn="base">
              <a:lnSpc>
                <a:spcPts val="1089"/>
              </a:lnSpc>
              <a:spcBef>
                <a:spcPts val="0"/>
              </a:spcBef>
              <a:spcAft>
                <a:spcPts val="0"/>
              </a:spcAft>
              <a:buNone/>
            </a:pPr>
            <a:r>
              <a:rPr lang="en-AU" sz="1089" b="0" spc="0" dirty="0">
                <a:solidFill>
                  <a:srgbClr val="20231F"/>
                </a:solidFill>
                <a:latin typeface="Space Grotesk"/>
                <a:ea typeface="Space Grotesk"/>
                <a:cs typeface="Space Grotesk"/>
              </a:rPr>
              <a:t xml:space="preserve">Hash-storage contract</a:t>
            </a:r>
            <a:endParaRPr lang="en-AU" sz="1089"/>
          </a:p>
        </p:txBody>
      </p:sp>
      <p:sp>
        <p:nvSpPr>
          <p:cNvPr id="63" name="Private Ethereum · Solidity"/>
          <p:cNvSpPr txBox="1"/>
          <p:nvPr/>
        </p:nvSpPr>
        <p:spPr>
          <a:xfrm>
            <a:off x="9444963" y="3130205"/>
            <a:ext cx="1470661" cy="198120"/>
          </a:xfrm>
          <a:prstGeom prst="rect">
            <a:avLst/>
          </a:prstGeom>
          <a:noFill/>
          <a:ln w="7620" cap="flat">
            <a:noFill/>
            <a:round/>
          </a:ln>
        </p:spPr>
        <p:txBody>
          <a:bodyPr wrap="none" lIns="0" rIns="0" tIns="0" bIns="0" anchor="t" rtlCol="0">
            <a:noAutofit/>
          </a:bodyPr>
          <a:lstStyle/>
          <a:p>
            <a:pPr marL="0" indent="0" algn="l" fontAlgn="base">
              <a:lnSpc>
                <a:spcPts val="860"/>
              </a:lnSpc>
              <a:spcBef>
                <a:spcPts val="0"/>
              </a:spcBef>
              <a:spcAft>
                <a:spcPts val="0"/>
              </a:spcAft>
              <a:buNone/>
            </a:pPr>
            <a:r>
              <a:rPr lang="en-AU" sz="860" b="0" spc="0" dirty="0">
                <a:solidFill>
                  <a:srgbClr val="60645B"/>
                </a:solidFill>
                <a:latin typeface="Space Grotesk"/>
                <a:ea typeface="Space Grotesk"/>
                <a:cs typeface="Space Grotesk"/>
              </a:rPr>
              <a:t xml:space="preserve">Private Ethereum · Solidity</a:t>
            </a:r>
            <a:endParaRPr lang="en-AU" sz="860"/>
          </a:p>
        </p:txBody>
      </p:sp>
      <p:sp>
        <p:nvSpPr>
          <p:cNvPr id="64" name="rect"/>
          <p:cNvSpPr/>
          <p:nvPr/>
        </p:nvSpPr>
        <p:spPr>
          <a:xfrm>
            <a:off x="9050844" y="3600782"/>
            <a:ext cx="2197938" cy="407565"/>
          </a:xfrm>
          <a:prstGeom prst="roundRect">
            <a:avLst>
              <a:gd name="adj" fmla="val 16071"/>
            </a:avLst>
          </a:prstGeom>
          <a:solidFill>
            <a:srgbClr val="F4F1E9"/>
          </a:solidFill>
          <a:ln w="8734" cap="flat">
            <a:solidFill>
              <a:srgbClr val="214BE0"/>
            </a:solidFill>
            <a:round/>
          </a:ln>
        </p:spPr>
      </p:sp>
      <p:sp>
        <p:nvSpPr>
          <p:cNvPr id="65" name="Base I2Map"/>
          <p:cNvSpPr txBox="1"/>
          <p:nvPr/>
        </p:nvSpPr>
        <p:spPr>
          <a:xfrm>
            <a:off x="9167291" y="3711072"/>
            <a:ext cx="838200" cy="236220"/>
          </a:xfrm>
          <a:prstGeom prst="rect">
            <a:avLst/>
          </a:prstGeom>
          <a:noFill/>
          <a:ln w="7620" cap="flat">
            <a:noFill/>
            <a:round/>
          </a:ln>
        </p:spPr>
        <p:txBody>
          <a:bodyPr wrap="none" lIns="0" rIns="0" tIns="0" bIns="0" anchor="t" rtlCol="0">
            <a:noAutofit/>
          </a:bodyPr>
          <a:lstStyle/>
          <a:p>
            <a:pPr marL="0" indent="0" algn="l" fontAlgn="base">
              <a:lnSpc>
                <a:spcPts val="1089"/>
              </a:lnSpc>
              <a:spcBef>
                <a:spcPts val="0"/>
              </a:spcBef>
              <a:spcAft>
                <a:spcPts val="0"/>
              </a:spcAft>
              <a:buNone/>
            </a:pPr>
            <a:r>
              <a:rPr lang="en-AU" sz="1089" b="0" spc="0" dirty="0">
                <a:solidFill>
                  <a:srgbClr val="20231F"/>
                </a:solidFill>
                <a:latin typeface="Space Grotesk"/>
                <a:ea typeface="Space Grotesk"/>
                <a:cs typeface="Space Grotesk"/>
              </a:rPr>
              <a:t xml:space="preserve">Base I2Map</a:t>
            </a:r>
            <a:endParaRPr lang="en-AU" sz="1089"/>
          </a:p>
        </p:txBody>
      </p:sp>
      <p:sp>
        <p:nvSpPr>
          <p:cNvPr id="66" name="baseline-digest"/>
          <p:cNvSpPr txBox="1"/>
          <p:nvPr/>
        </p:nvSpPr>
        <p:spPr>
          <a:xfrm>
            <a:off x="11049111" y="3718692"/>
            <a:ext cx="144780" cy="220980"/>
          </a:xfrm>
          <a:prstGeom prst="rect">
            <a:avLst/>
          </a:prstGeom>
          <a:noFill/>
          <a:ln w="7620" cap="flat">
            <a:noFill/>
            <a:round/>
          </a:ln>
        </p:spPr>
        <p:txBody>
          <a:bodyPr wrap="none" lIns="0" rIns="0" tIns="0" bIns="0" anchor="t" rtlCol="0">
            <a:noAutofit/>
          </a:bodyPr>
          <a:lstStyle/>
          <a:p>
            <a:pPr marL="0" indent="0" algn="l" fontAlgn="base">
              <a:lnSpc>
                <a:spcPts val="1089"/>
              </a:lnSpc>
              <a:spcBef>
                <a:spcPts val="0"/>
              </a:spcBef>
              <a:spcAft>
                <a:spcPts val="0"/>
              </a:spcAft>
              <a:buNone/>
            </a:pPr>
            <a:r>
              <a:rPr lang="en-AU" sz="1089" b="0" spc="0" dirty="0">
                <a:solidFill>
                  <a:srgbClr val="214BE0"/>
                </a:solidFill>
                <a:latin typeface="Consolas"/>
                <a:ea typeface="Consolas"/>
                <a:cs typeface="Consolas"/>
              </a:rPr>
              <a:t xml:space="preserve">—</a:t>
            </a:r>
            <a:endParaRPr lang="en-AU" sz="1089"/>
          </a:p>
        </p:txBody>
      </p:sp>
      <p:sp>
        <p:nvSpPr>
          <p:cNvPr id="67" name="rect"/>
          <p:cNvSpPr/>
          <p:nvPr/>
        </p:nvSpPr>
        <p:spPr>
          <a:xfrm>
            <a:off x="9523910" y="4124793"/>
            <a:ext cx="327507" cy="36390"/>
          </a:xfrm>
          <a:prstGeom prst="roundRect">
            <a:avLst>
              <a:gd name="adj" fmla="val 40000"/>
            </a:avLst>
          </a:prstGeom>
          <a:solidFill>
            <a:srgbClr val="D2D3C8"/>
          </a:solidFill>
          <a:ln w="7278" cap="flat">
            <a:noFill/>
            <a:round/>
          </a:ln>
        </p:spPr>
      </p:sp>
      <p:sp>
        <p:nvSpPr>
          <p:cNvPr id="68" name="rect"/>
          <p:cNvSpPr/>
          <p:nvPr/>
        </p:nvSpPr>
        <p:spPr>
          <a:xfrm>
            <a:off x="9989698" y="4124793"/>
            <a:ext cx="327507" cy="36390"/>
          </a:xfrm>
          <a:prstGeom prst="roundRect">
            <a:avLst>
              <a:gd name="adj" fmla="val 40000"/>
            </a:avLst>
          </a:prstGeom>
          <a:solidFill>
            <a:srgbClr val="D2D3C8"/>
          </a:solidFill>
          <a:ln w="7278" cap="flat">
            <a:noFill/>
            <a:round/>
          </a:ln>
        </p:spPr>
      </p:sp>
      <p:sp>
        <p:nvSpPr>
          <p:cNvPr id="69" name="rect"/>
          <p:cNvSpPr/>
          <p:nvPr/>
        </p:nvSpPr>
        <p:spPr>
          <a:xfrm>
            <a:off x="10455486" y="4124793"/>
            <a:ext cx="327507" cy="36390"/>
          </a:xfrm>
          <a:prstGeom prst="roundRect">
            <a:avLst>
              <a:gd name="adj" fmla="val 40000"/>
            </a:avLst>
          </a:prstGeom>
          <a:solidFill>
            <a:srgbClr val="D2D3C8"/>
          </a:solidFill>
          <a:ln w="7278" cap="flat">
            <a:noFill/>
            <a:round/>
          </a:ln>
        </p:spPr>
      </p:sp>
      <p:sp>
        <p:nvSpPr>
          <p:cNvPr id="70" name="rect"/>
          <p:cNvSpPr/>
          <p:nvPr/>
        </p:nvSpPr>
        <p:spPr>
          <a:xfrm>
            <a:off x="6212447" y="4525080"/>
            <a:ext cx="1601147" cy="538568"/>
          </a:xfrm>
          <a:prstGeom prst="roundRect">
            <a:avLst>
              <a:gd name="adj" fmla="val 16216"/>
            </a:avLst>
          </a:prstGeom>
          <a:solidFill>
            <a:srgbClr val="F4F1E9"/>
          </a:solidFill>
          <a:ln w="8734" cap="flat">
            <a:solidFill>
              <a:srgbClr val="D2D3C8"/>
            </a:solidFill>
            <a:round/>
          </a:ln>
        </p:spPr>
      </p:sp>
      <p:sp>
        <p:nvSpPr>
          <p:cNvPr id="71" name="path"/>
          <p:cNvSpPr/>
          <p:nvPr/>
        </p:nvSpPr>
        <p:spPr>
          <a:xfrm>
            <a:off x="6328894" y="4663361"/>
            <a:ext cx="152837" cy="101891"/>
          </a:xfrm>
          <a:custGeom>
            <a:avLst/>
            <a:gdLst/>
            <a:ahLst/>
            <a:cxnLst/>
            <a:rect l="0" t="0" r="r" b="b"/>
            <a:pathLst>
              <a:path w="20057" h="13372" fill="none" stroke="1" extrusionOk="0">
                <a:moveTo>
                  <a:pt x="0" y="5731"/>
                </a:moveTo>
                <a:lnTo>
                  <a:pt x="7641" y="13372"/>
                </a:lnTo>
                <a:lnTo>
                  <a:pt x="20057" y="0"/>
                </a:lnTo>
              </a:path>
            </a:pathLst>
          </a:custGeom>
          <a:noFill/>
          <a:ln w="18195" cap="rnd">
            <a:solidFill>
              <a:srgbClr val="08766B"/>
            </a:solidFill>
            <a:round/>
          </a:ln>
        </p:spPr>
      </p:sp>
      <p:sp>
        <p:nvSpPr>
          <p:cNvPr id="72" name="Accept sensor data"/>
          <p:cNvSpPr txBox="1"/>
          <p:nvPr/>
        </p:nvSpPr>
        <p:spPr>
          <a:xfrm>
            <a:off x="6518121" y="4599322"/>
            <a:ext cx="1303020" cy="228600"/>
          </a:xfrm>
          <a:prstGeom prst="rect">
            <a:avLst/>
          </a:prstGeom>
          <a:noFill/>
          <a:ln w="7620" cap="flat">
            <a:noFill/>
            <a:round/>
          </a:ln>
        </p:spPr>
        <p:txBody>
          <a:bodyPr wrap="none" lIns="0" rIns="0" tIns="0" bIns="0" anchor="t" rtlCol="0">
            <a:noAutofit/>
          </a:bodyPr>
          <a:lstStyle/>
          <a:p>
            <a:pPr marL="0" indent="0" algn="l" fontAlgn="base">
              <a:lnSpc>
                <a:spcPts val="1032"/>
              </a:lnSpc>
              <a:spcBef>
                <a:spcPts val="0"/>
              </a:spcBef>
              <a:spcAft>
                <a:spcPts val="0"/>
              </a:spcAft>
              <a:buNone/>
            </a:pPr>
            <a:r>
              <a:rPr lang="en-AU" sz="1032" b="0" spc="0" dirty="0">
                <a:solidFill>
                  <a:srgbClr val="20231F"/>
                </a:solidFill>
                <a:latin typeface="Space Grotesk"/>
                <a:ea typeface="Space Grotesk"/>
                <a:cs typeface="Space Grotesk"/>
              </a:rPr>
              <a:t xml:space="preserve">Accept sensor data</a:t>
            </a:r>
            <a:endParaRPr lang="en-AU" sz="1032"/>
          </a:p>
        </p:txBody>
      </p:sp>
      <p:sp>
        <p:nvSpPr>
          <p:cNvPr id="73" name="Monitored state unchanged"/>
          <p:cNvSpPr txBox="1"/>
          <p:nvPr/>
        </p:nvSpPr>
        <p:spPr>
          <a:xfrm>
            <a:off x="6314339" y="4818687"/>
            <a:ext cx="1562100" cy="198120"/>
          </a:xfrm>
          <a:prstGeom prst="rect">
            <a:avLst/>
          </a:prstGeom>
          <a:noFill/>
          <a:ln w="7620" cap="flat">
            <a:noFill/>
            <a:round/>
          </a:ln>
        </p:spPr>
        <p:txBody>
          <a:bodyPr wrap="none" lIns="0" rIns="0" tIns="0" bIns="0" anchor="t" rtlCol="0">
            <a:noAutofit/>
          </a:bodyPr>
          <a:lstStyle/>
          <a:p>
            <a:pPr marL="0" indent="0" algn="l" fontAlgn="base">
              <a:lnSpc>
                <a:spcPts val="860"/>
              </a:lnSpc>
              <a:spcBef>
                <a:spcPts val="0"/>
              </a:spcBef>
              <a:spcAft>
                <a:spcPts val="0"/>
              </a:spcAft>
              <a:buNone/>
            </a:pPr>
            <a:r>
              <a:rPr lang="en-AU" sz="860" b="0" spc="0" dirty="0">
                <a:solidFill>
                  <a:srgbClr val="60645B"/>
                </a:solidFill>
                <a:latin typeface="Space Grotesk"/>
                <a:ea typeface="Space Grotesk"/>
                <a:cs typeface="Space Grotesk"/>
              </a:rPr>
              <a:t xml:space="preserve">Monitored state unchanged</a:t>
            </a:r>
            <a:endParaRPr lang="en-AU" sz="860"/>
          </a:p>
        </p:txBody>
      </p:sp>
      <p:sp>
        <p:nvSpPr>
          <p:cNvPr id="74" name="rect"/>
          <p:cNvSpPr/>
          <p:nvPr/>
        </p:nvSpPr>
        <p:spPr>
          <a:xfrm>
            <a:off x="7930041" y="4525080"/>
            <a:ext cx="1601147" cy="538568"/>
          </a:xfrm>
          <a:prstGeom prst="roundRect">
            <a:avLst>
              <a:gd name="adj" fmla="val 12162"/>
            </a:avLst>
          </a:prstGeom>
          <a:solidFill>
            <a:srgbClr val="E2EEE5"/>
          </a:solidFill>
          <a:ln w="8734" cap="flat">
            <a:solidFill>
              <a:srgbClr val="08766B"/>
            </a:solidFill>
            <a:round/>
          </a:ln>
        </p:spPr>
      </p:sp>
      <p:sp>
        <p:nvSpPr>
          <p:cNvPr id="75" name="Sensor-data consumer"/>
          <p:cNvSpPr txBox="1"/>
          <p:nvPr/>
        </p:nvSpPr>
        <p:spPr>
          <a:xfrm>
            <a:off x="8056244" y="4606943"/>
            <a:ext cx="1409701" cy="220980"/>
          </a:xfrm>
          <a:prstGeom prst="rect">
            <a:avLst/>
          </a:prstGeom>
          <a:noFill/>
          <a:ln w="7620" cap="flat">
            <a:noFill/>
            <a:round/>
          </a:ln>
        </p:spPr>
        <p:txBody>
          <a:bodyPr wrap="none" lIns="0" rIns="0" tIns="0" bIns="0" anchor="t" rtlCol="0">
            <a:noAutofit/>
          </a:bodyPr>
          <a:lstStyle/>
          <a:p>
            <a:pPr marL="0" indent="0" algn="l" fontAlgn="base">
              <a:lnSpc>
                <a:spcPts val="974"/>
              </a:lnSpc>
              <a:spcBef>
                <a:spcPts val="0"/>
              </a:spcBef>
              <a:spcAft>
                <a:spcPts val="0"/>
              </a:spcAft>
              <a:buNone/>
            </a:pPr>
            <a:r>
              <a:rPr lang="en-AU" sz="974" b="0" spc="0" dirty="0">
                <a:solidFill>
                  <a:srgbClr val="20231F"/>
                </a:solidFill>
                <a:latin typeface="Space Grotesk"/>
                <a:ea typeface="Space Grotesk"/>
                <a:cs typeface="Space Grotesk"/>
              </a:rPr>
              <a:t xml:space="preserve">Sensor-data consumer</a:t>
            </a:r>
            <a:endParaRPr lang="en-AU" sz="974"/>
          </a:p>
        </p:txBody>
      </p:sp>
      <p:sp>
        <p:nvSpPr>
          <p:cNvPr id="76" name="IoT / autonomous system"/>
          <p:cNvSpPr txBox="1"/>
          <p:nvPr/>
        </p:nvSpPr>
        <p:spPr>
          <a:xfrm>
            <a:off x="8048624" y="4818687"/>
            <a:ext cx="1424941" cy="198120"/>
          </a:xfrm>
          <a:prstGeom prst="rect">
            <a:avLst/>
          </a:prstGeom>
          <a:noFill/>
          <a:ln w="7620" cap="flat">
            <a:noFill/>
            <a:round/>
          </a:ln>
        </p:spPr>
        <p:txBody>
          <a:bodyPr wrap="none" lIns="0" rIns="0" tIns="0" bIns="0" anchor="t" rtlCol="0">
            <a:noAutofit/>
          </a:bodyPr>
          <a:lstStyle/>
          <a:p>
            <a:pPr marL="0" indent="0" algn="l" fontAlgn="base">
              <a:lnSpc>
                <a:spcPts val="860"/>
              </a:lnSpc>
              <a:spcBef>
                <a:spcPts val="0"/>
              </a:spcBef>
              <a:spcAft>
                <a:spcPts val="0"/>
              </a:spcAft>
              <a:buNone/>
            </a:pPr>
            <a:r>
              <a:rPr lang="en-AU" sz="860" b="0" spc="0" dirty="0">
                <a:solidFill>
                  <a:srgbClr val="60645B"/>
                </a:solidFill>
                <a:latin typeface="Space Grotesk"/>
                <a:ea typeface="Space Grotesk"/>
                <a:cs typeface="Space Grotesk"/>
              </a:rPr>
              <a:t xml:space="preserve">IoT / autonomous system</a:t>
            </a:r>
            <a:endParaRPr lang="en-AU" sz="860"/>
          </a:p>
        </p:txBody>
      </p:sp>
      <p:sp>
        <p:nvSpPr>
          <p:cNvPr id="77" name="rect"/>
          <p:cNvSpPr/>
          <p:nvPr/>
        </p:nvSpPr>
        <p:spPr>
          <a:xfrm>
            <a:off x="9647635" y="4525080"/>
            <a:ext cx="1601147" cy="538568"/>
          </a:xfrm>
          <a:prstGeom prst="roundRect">
            <a:avLst>
              <a:gd name="adj" fmla="val 16216"/>
            </a:avLst>
          </a:prstGeom>
          <a:solidFill>
            <a:srgbClr val="F4F1E9"/>
          </a:solidFill>
          <a:ln w="8734" cap="flat">
            <a:solidFill>
              <a:srgbClr val="D2D3C8"/>
            </a:solidFill>
            <a:round/>
          </a:ln>
        </p:spPr>
      </p:sp>
      <p:sp>
        <p:nvSpPr>
          <p:cNvPr id="78" name="path"/>
          <p:cNvSpPr/>
          <p:nvPr/>
        </p:nvSpPr>
        <p:spPr>
          <a:xfrm>
            <a:off x="9764082" y="4677917"/>
            <a:ext cx="116447" cy="116447"/>
          </a:xfrm>
          <a:custGeom>
            <a:avLst/>
            <a:gdLst/>
            <a:ahLst/>
            <a:cxnLst/>
            <a:rect l="0" t="0" r="r" b="b"/>
            <a:pathLst>
              <a:path w="15282" h="15282" fill="none" stroke="1" extrusionOk="0">
                <a:moveTo>
                  <a:pt x="0" y="0"/>
                </a:moveTo>
                <a:lnTo>
                  <a:pt x="15282" y="15282"/>
                </a:lnTo>
                <a:moveTo>
                  <a:pt x="15282" y="0"/>
                </a:moveTo>
                <a:lnTo>
                  <a:pt x="0" y="15282"/>
                </a:lnTo>
              </a:path>
            </a:pathLst>
          </a:custGeom>
          <a:noFill/>
          <a:ln w="18195" cap="rnd">
            <a:solidFill>
              <a:srgbClr val="C43E2D"/>
            </a:solidFill>
            <a:round/>
          </a:ln>
        </p:spPr>
      </p:sp>
      <p:sp>
        <p:nvSpPr>
          <p:cNvPr id="79" name="Reject &amp; raise alert"/>
          <p:cNvSpPr txBox="1"/>
          <p:nvPr/>
        </p:nvSpPr>
        <p:spPr>
          <a:xfrm>
            <a:off x="9953308" y="4599322"/>
            <a:ext cx="1234440" cy="228600"/>
          </a:xfrm>
          <a:prstGeom prst="rect">
            <a:avLst/>
          </a:prstGeom>
          <a:noFill/>
          <a:ln w="7620" cap="flat">
            <a:noFill/>
            <a:round/>
          </a:ln>
        </p:spPr>
        <p:txBody>
          <a:bodyPr wrap="none" lIns="0" rIns="0" tIns="0" bIns="0" anchor="t" rtlCol="0">
            <a:noAutofit/>
          </a:bodyPr>
          <a:lstStyle/>
          <a:p>
            <a:pPr marL="0" indent="0" algn="l" fontAlgn="base">
              <a:lnSpc>
                <a:spcPts val="1032"/>
              </a:lnSpc>
              <a:spcBef>
                <a:spcPts val="0"/>
              </a:spcBef>
              <a:spcAft>
                <a:spcPts val="0"/>
              </a:spcAft>
              <a:buNone/>
            </a:pPr>
            <a:r>
              <a:rPr lang="en-AU" sz="1032" b="0" spc="0" dirty="0">
                <a:solidFill>
                  <a:srgbClr val="20231F"/>
                </a:solidFill>
                <a:latin typeface="Space Grotesk"/>
                <a:ea typeface="Space Grotesk"/>
                <a:cs typeface="Space Grotesk"/>
              </a:rPr>
              <a:t xml:space="preserve">Reject &amp; raise alert</a:t>
            </a:r>
            <a:endParaRPr lang="en-AU" sz="1032"/>
          </a:p>
        </p:txBody>
      </p:sp>
      <p:sp>
        <p:nvSpPr>
          <p:cNvPr id="80" name="Changed state detected"/>
          <p:cNvSpPr txBox="1"/>
          <p:nvPr/>
        </p:nvSpPr>
        <p:spPr>
          <a:xfrm>
            <a:off x="9749527" y="4818687"/>
            <a:ext cx="1371600" cy="198120"/>
          </a:xfrm>
          <a:prstGeom prst="rect">
            <a:avLst/>
          </a:prstGeom>
          <a:noFill/>
          <a:ln w="7620" cap="flat">
            <a:noFill/>
            <a:round/>
          </a:ln>
        </p:spPr>
        <p:txBody>
          <a:bodyPr wrap="none" lIns="0" rIns="0" tIns="0" bIns="0" anchor="t" rtlCol="0">
            <a:noAutofit/>
          </a:bodyPr>
          <a:lstStyle/>
          <a:p>
            <a:pPr marL="0" indent="0" algn="l" fontAlgn="base">
              <a:lnSpc>
                <a:spcPts val="860"/>
              </a:lnSpc>
              <a:spcBef>
                <a:spcPts val="0"/>
              </a:spcBef>
              <a:spcAft>
                <a:spcPts val="0"/>
              </a:spcAft>
              <a:buNone/>
            </a:pPr>
            <a:r>
              <a:rPr lang="en-AU" sz="860" b="0" spc="0" dirty="0">
                <a:solidFill>
                  <a:srgbClr val="60645B"/>
                </a:solidFill>
                <a:latin typeface="Space Grotesk"/>
                <a:ea typeface="Space Grotesk"/>
                <a:cs typeface="Space Grotesk"/>
              </a:rPr>
              <a:t xml:space="preserve">Changed state detected</a:t>
            </a:r>
            <a:endParaRPr lang="en-AU" sz="860"/>
          </a:p>
        </p:txBody>
      </p:sp>
      <p:sp>
        <p:nvSpPr>
          <p:cNvPr id="81" name="activity-panel"/>
          <p:cNvSpPr/>
          <p:nvPr/>
        </p:nvSpPr>
        <p:spPr>
          <a:xfrm>
            <a:off x="360883" y="5357041"/>
            <a:ext cx="8408517" cy="940684"/>
          </a:xfrm>
          <a:prstGeom prst="roundRect">
            <a:avLst>
              <a:gd name="adj" fmla="val 9526"/>
            </a:avLst>
          </a:prstGeom>
          <a:solidFill>
            <a:srgbClr val="F4F1E9"/>
          </a:solidFill>
          <a:ln w="7468" cap="flat">
            <a:solidFill>
              <a:srgbClr val="D2D3C8"/>
            </a:solidFill>
            <a:round/>
          </a:ln>
        </p:spPr>
      </p:sp>
      <p:sp>
        <p:nvSpPr>
          <p:cNvPr id="82" name="activity-title"/>
          <p:cNvSpPr txBox="1"/>
          <p:nvPr/>
        </p:nvSpPr>
        <p:spPr>
          <a:xfrm>
            <a:off x="502768" y="5461588"/>
            <a:ext cx="1056018" cy="232715"/>
          </a:xfrm>
          <a:prstGeom prst="rect">
            <a:avLst/>
          </a:prstGeom>
          <a:noFill/>
          <a:ln w="7620" cap="flat">
            <a:noFill/>
            <a:round/>
          </a:ln>
        </p:spPr>
        <p:txBody>
          <a:bodyPr wrap="none" lIns="0" rIns="0" tIns="0" bIns="0" anchor="t" rtlCol="0">
            <a:noAutofit/>
          </a:bodyPr>
          <a:lstStyle/>
          <a:p>
            <a:pPr marL="0" indent="0" algn="l" fontAlgn="base">
              <a:lnSpc>
                <a:spcPts val="1270"/>
              </a:lnSpc>
              <a:spcBef>
                <a:spcPts val="0"/>
              </a:spcBef>
              <a:spcAft>
                <a:spcPts val="0"/>
              </a:spcAft>
              <a:buNone/>
            </a:pPr>
            <a:r>
              <a:rPr lang="en-AU" sz="1058" b="1" spc="-21" dirty="0">
                <a:solidFill>
                  <a:srgbClr val="20231F"/>
                </a:solidFill>
                <a:latin typeface="Space Grotesk"/>
                <a:ea typeface="Space Grotesk"/>
                <a:cs typeface="Space Grotesk"/>
              </a:rPr>
              <a:t xml:space="preserve">Current activity</a:t>
            </a:r>
            <a:endParaRPr lang="en-AU" sz="1058"/>
          </a:p>
        </p:txBody>
      </p:sp>
      <p:sp>
        <p:nvSpPr>
          <p:cNvPr id="83" name="LI"/>
          <p:cNvSpPr txBox="1"/>
          <p:nvPr/>
        </p:nvSpPr>
        <p:spPr>
          <a:xfrm>
            <a:off x="741731" y="5734855"/>
            <a:ext cx="1554480" cy="217780"/>
          </a:xfrm>
          <a:prstGeom prst="rect">
            <a:avLst/>
          </a:prstGeom>
          <a:noFill/>
          <a:ln w="7620" cap="flat">
            <a:noFill/>
            <a:round/>
          </a:ln>
        </p:spPr>
        <p:txBody>
          <a:bodyPr wrap="none" lIns="0" rIns="0" tIns="0" bIns="0" anchor="t" rtlCol="0">
            <a:noAutofit/>
          </a:bodyPr>
          <a:lstStyle/>
          <a:p>
            <a:pPr marL="0" indent="0" algn="l" fontAlgn="base">
              <a:lnSpc>
                <a:spcPts val="1129"/>
              </a:lnSpc>
              <a:spcBef>
                <a:spcPts val="0"/>
              </a:spcBef>
              <a:spcAft>
                <a:spcPts val="0"/>
              </a:spcAft>
              <a:buNone/>
            </a:pPr>
            <a:r>
              <a:rPr lang="en-AU" sz="941" b="0" spc="0" dirty="0">
                <a:solidFill>
                  <a:srgbClr val="60645B"/>
                </a:solidFill>
                <a:latin typeface="Space Grotesk"/>
                <a:ea typeface="Space Grotesk"/>
                <a:cs typeface="Space Grotesk"/>
              </a:rPr>
              <a:t xml:space="preserve">Collect device parameters</a:t>
            </a:r>
            <a:endParaRPr lang="en-AU" sz="941"/>
          </a:p>
        </p:txBody>
      </p:sp>
      <p:sp>
        <p:nvSpPr>
          <p:cNvPr id="84" name="activity-marker"/>
          <p:cNvSpPr/>
          <p:nvPr/>
        </p:nvSpPr>
        <p:spPr>
          <a:xfrm>
            <a:off x="562508" y="5754224"/>
            <a:ext cx="119482" cy="119482"/>
          </a:xfrm>
          <a:prstGeom prst="roundRect">
            <a:avLst>
              <a:gd name="adj" fmla="val 50000"/>
            </a:avLst>
          </a:prstGeom>
          <a:noFill/>
          <a:ln w="7468" cap="flat">
            <a:solidFill>
              <a:srgbClr val="D2D3C8"/>
            </a:solidFill>
            <a:round/>
          </a:ln>
        </p:spPr>
      </p:sp>
      <p:sp>
        <p:nvSpPr>
          <p:cNvPr id="85" name="LI"/>
          <p:cNvSpPr txBox="1"/>
          <p:nvPr/>
        </p:nvSpPr>
        <p:spPr>
          <a:xfrm>
            <a:off x="3484790" y="5734855"/>
            <a:ext cx="1494739" cy="217780"/>
          </a:xfrm>
          <a:prstGeom prst="rect">
            <a:avLst/>
          </a:prstGeom>
          <a:noFill/>
          <a:ln w="7620" cap="flat">
            <a:noFill/>
            <a:round/>
          </a:ln>
        </p:spPr>
        <p:txBody>
          <a:bodyPr wrap="none" lIns="0" rIns="0" tIns="0" bIns="0" anchor="t" rtlCol="0">
            <a:noAutofit/>
          </a:bodyPr>
          <a:lstStyle/>
          <a:p>
            <a:pPr marL="0" indent="0" algn="l" fontAlgn="base">
              <a:lnSpc>
                <a:spcPts val="1129"/>
              </a:lnSpc>
              <a:spcBef>
                <a:spcPts val="0"/>
              </a:spcBef>
              <a:spcAft>
                <a:spcPts val="0"/>
              </a:spcAft>
              <a:buNone/>
            </a:pPr>
            <a:r>
              <a:rPr lang="en-AU" sz="941" b="0" spc="0" dirty="0">
                <a:solidFill>
                  <a:srgbClr val="60645B"/>
                </a:solidFill>
                <a:latin typeface="Space Grotesk"/>
                <a:ea typeface="Space Grotesk"/>
                <a:cs typeface="Space Grotesk"/>
              </a:rPr>
              <a:t xml:space="preserve">Generate SHA-256 I2Map</a:t>
            </a:r>
            <a:endParaRPr lang="en-AU" sz="941"/>
          </a:p>
        </p:txBody>
      </p:sp>
      <p:sp>
        <p:nvSpPr>
          <p:cNvPr id="86" name="activity-marker"/>
          <p:cNvSpPr/>
          <p:nvPr/>
        </p:nvSpPr>
        <p:spPr>
          <a:xfrm>
            <a:off x="3305568" y="5754224"/>
            <a:ext cx="119482" cy="119482"/>
          </a:xfrm>
          <a:prstGeom prst="roundRect">
            <a:avLst>
              <a:gd name="adj" fmla="val 50000"/>
            </a:avLst>
          </a:prstGeom>
          <a:noFill/>
          <a:ln w="7468" cap="flat">
            <a:solidFill>
              <a:srgbClr val="D2D3C8"/>
            </a:solidFill>
            <a:round/>
          </a:ln>
        </p:spPr>
      </p:sp>
      <p:sp>
        <p:nvSpPr>
          <p:cNvPr id="87" name="LI"/>
          <p:cNvSpPr txBox="1"/>
          <p:nvPr/>
        </p:nvSpPr>
        <p:spPr>
          <a:xfrm>
            <a:off x="6227850" y="5734855"/>
            <a:ext cx="1487272" cy="217780"/>
          </a:xfrm>
          <a:prstGeom prst="rect">
            <a:avLst/>
          </a:prstGeom>
          <a:noFill/>
          <a:ln w="7620" cap="flat">
            <a:noFill/>
            <a:round/>
          </a:ln>
        </p:spPr>
        <p:txBody>
          <a:bodyPr wrap="none" lIns="0" rIns="0" tIns="0" bIns="0" anchor="t" rtlCol="0">
            <a:noAutofit/>
          </a:bodyPr>
          <a:lstStyle/>
          <a:p>
            <a:pPr marL="0" indent="0" algn="l" fontAlgn="base">
              <a:lnSpc>
                <a:spcPts val="1129"/>
              </a:lnSpc>
              <a:spcBef>
                <a:spcPts val="0"/>
              </a:spcBef>
              <a:spcAft>
                <a:spcPts val="0"/>
              </a:spcAft>
              <a:buNone/>
            </a:pPr>
            <a:r>
              <a:rPr lang="en-AU" sz="941" b="0" spc="0" dirty="0">
                <a:solidFill>
                  <a:srgbClr val="60645B"/>
                </a:solidFill>
                <a:latin typeface="Space Grotesk"/>
                <a:ea typeface="Space Grotesk"/>
                <a:cs typeface="Space Grotesk"/>
              </a:rPr>
              <a:t xml:space="preserve">Register trusted baseline</a:t>
            </a:r>
            <a:endParaRPr lang="en-AU" sz="941"/>
          </a:p>
        </p:txBody>
      </p:sp>
      <p:sp>
        <p:nvSpPr>
          <p:cNvPr id="88" name="activity-marker"/>
          <p:cNvSpPr/>
          <p:nvPr/>
        </p:nvSpPr>
        <p:spPr>
          <a:xfrm>
            <a:off x="6048628" y="5754224"/>
            <a:ext cx="119482" cy="119482"/>
          </a:xfrm>
          <a:prstGeom prst="roundRect">
            <a:avLst>
              <a:gd name="adj" fmla="val 50000"/>
            </a:avLst>
          </a:prstGeom>
          <a:noFill/>
          <a:ln w="7468" cap="flat">
            <a:solidFill>
              <a:srgbClr val="D2D3C8"/>
            </a:solidFill>
            <a:round/>
          </a:ln>
        </p:spPr>
      </p:sp>
      <p:sp>
        <p:nvSpPr>
          <p:cNvPr id="89" name="LI"/>
          <p:cNvSpPr txBox="1"/>
          <p:nvPr/>
        </p:nvSpPr>
        <p:spPr>
          <a:xfrm>
            <a:off x="741731" y="5997621"/>
            <a:ext cx="1718767" cy="217779"/>
          </a:xfrm>
          <a:prstGeom prst="rect">
            <a:avLst/>
          </a:prstGeom>
          <a:noFill/>
          <a:ln w="7620" cap="flat">
            <a:noFill/>
            <a:round/>
          </a:ln>
        </p:spPr>
        <p:txBody>
          <a:bodyPr wrap="none" lIns="0" rIns="0" tIns="0" bIns="0" anchor="t" rtlCol="0">
            <a:noAutofit/>
          </a:bodyPr>
          <a:lstStyle/>
          <a:p>
            <a:pPr marL="0" indent="0" algn="l" fontAlgn="base">
              <a:lnSpc>
                <a:spcPts val="1129"/>
              </a:lnSpc>
              <a:spcBef>
                <a:spcPts val="0"/>
              </a:spcBef>
              <a:spcAft>
                <a:spcPts val="0"/>
              </a:spcAft>
              <a:buNone/>
            </a:pPr>
            <a:r>
              <a:rPr lang="en-AU" sz="941" b="0" spc="0" dirty="0">
                <a:solidFill>
                  <a:srgbClr val="60645B"/>
                </a:solidFill>
                <a:latin typeface="Space Grotesk"/>
                <a:ea typeface="Space Grotesk"/>
                <a:cs typeface="Space Grotesk"/>
              </a:rPr>
              <a:t xml:space="preserve">Send runtime I2Map to chain</a:t>
            </a:r>
            <a:endParaRPr lang="en-AU" sz="941"/>
          </a:p>
        </p:txBody>
      </p:sp>
      <p:sp>
        <p:nvSpPr>
          <p:cNvPr id="90" name="activity-marker"/>
          <p:cNvSpPr/>
          <p:nvPr/>
        </p:nvSpPr>
        <p:spPr>
          <a:xfrm>
            <a:off x="562508" y="6016990"/>
            <a:ext cx="119482" cy="119482"/>
          </a:xfrm>
          <a:prstGeom prst="roundRect">
            <a:avLst>
              <a:gd name="adj" fmla="val 50000"/>
            </a:avLst>
          </a:prstGeom>
          <a:noFill/>
          <a:ln w="7468" cap="flat">
            <a:solidFill>
              <a:srgbClr val="D2D3C8"/>
            </a:solidFill>
            <a:round/>
          </a:ln>
        </p:spPr>
      </p:sp>
      <p:sp>
        <p:nvSpPr>
          <p:cNvPr id="91" name="LI"/>
          <p:cNvSpPr txBox="1"/>
          <p:nvPr/>
        </p:nvSpPr>
        <p:spPr>
          <a:xfrm>
            <a:off x="3484790" y="5997621"/>
            <a:ext cx="1584351" cy="217779"/>
          </a:xfrm>
          <a:prstGeom prst="rect">
            <a:avLst/>
          </a:prstGeom>
          <a:noFill/>
          <a:ln w="7620" cap="flat">
            <a:noFill/>
            <a:round/>
          </a:ln>
        </p:spPr>
        <p:txBody>
          <a:bodyPr wrap="none" lIns="0" rIns="0" tIns="0" bIns="0" anchor="t" rtlCol="0">
            <a:noAutofit/>
          </a:bodyPr>
          <a:lstStyle/>
          <a:p>
            <a:pPr marL="0" indent="0" algn="l" fontAlgn="base">
              <a:lnSpc>
                <a:spcPts val="1129"/>
              </a:lnSpc>
              <a:spcBef>
                <a:spcPts val="0"/>
              </a:spcBef>
              <a:spcAft>
                <a:spcPts val="0"/>
              </a:spcAft>
              <a:buNone/>
            </a:pPr>
            <a:r>
              <a:rPr lang="en-AU" sz="941" b="0" spc="0" dirty="0">
                <a:solidFill>
                  <a:srgbClr val="60645B"/>
                </a:solidFill>
                <a:latin typeface="Space Grotesk"/>
                <a:ea typeface="Space Grotesk"/>
                <a:cs typeface="Space Grotesk"/>
              </a:rPr>
              <a:t xml:space="preserve">Receive hashes &amp; compare</a:t>
            </a:r>
            <a:endParaRPr lang="en-AU" sz="941"/>
          </a:p>
        </p:txBody>
      </p:sp>
      <p:sp>
        <p:nvSpPr>
          <p:cNvPr id="92" name="activity-marker"/>
          <p:cNvSpPr/>
          <p:nvPr/>
        </p:nvSpPr>
        <p:spPr>
          <a:xfrm>
            <a:off x="3305568" y="6016990"/>
            <a:ext cx="119482" cy="119482"/>
          </a:xfrm>
          <a:prstGeom prst="roundRect">
            <a:avLst>
              <a:gd name="adj" fmla="val 50000"/>
            </a:avLst>
          </a:prstGeom>
          <a:noFill/>
          <a:ln w="7468" cap="flat">
            <a:solidFill>
              <a:srgbClr val="D2D3C8"/>
            </a:solidFill>
            <a:round/>
          </a:ln>
        </p:spPr>
      </p:sp>
      <p:sp>
        <p:nvSpPr>
          <p:cNvPr id="93" name="LI"/>
          <p:cNvSpPr txBox="1"/>
          <p:nvPr/>
        </p:nvSpPr>
        <p:spPr>
          <a:xfrm>
            <a:off x="6227850" y="5997621"/>
            <a:ext cx="1173632" cy="217779"/>
          </a:xfrm>
          <a:prstGeom prst="rect">
            <a:avLst/>
          </a:prstGeom>
          <a:noFill/>
          <a:ln w="7620" cap="flat">
            <a:noFill/>
            <a:round/>
          </a:ln>
        </p:spPr>
        <p:txBody>
          <a:bodyPr wrap="none" lIns="0" rIns="0" tIns="0" bIns="0" anchor="t" rtlCol="0">
            <a:noAutofit/>
          </a:bodyPr>
          <a:lstStyle/>
          <a:p>
            <a:pPr marL="0" indent="0" algn="l" fontAlgn="base">
              <a:lnSpc>
                <a:spcPts val="1129"/>
              </a:lnSpc>
              <a:spcBef>
                <a:spcPts val="0"/>
              </a:spcBef>
              <a:spcAft>
                <a:spcPts val="0"/>
              </a:spcAft>
              <a:buNone/>
            </a:pPr>
            <a:r>
              <a:rPr lang="en-AU" sz="941" b="0" spc="0" dirty="0">
                <a:solidFill>
                  <a:srgbClr val="60645B"/>
                </a:solidFill>
                <a:latin typeface="Space Grotesk"/>
                <a:ea typeface="Space Grotesk"/>
                <a:cs typeface="Space Grotesk"/>
              </a:rPr>
              <a:t xml:space="preserve">Accept sensor data</a:t>
            </a:r>
            <a:endParaRPr lang="en-AU" sz="941"/>
          </a:p>
        </p:txBody>
      </p:sp>
      <p:sp>
        <p:nvSpPr>
          <p:cNvPr id="94" name="activity-marker"/>
          <p:cNvSpPr/>
          <p:nvPr/>
        </p:nvSpPr>
        <p:spPr>
          <a:xfrm>
            <a:off x="6048628" y="6016990"/>
            <a:ext cx="119482" cy="119482"/>
          </a:xfrm>
          <a:prstGeom prst="roundRect">
            <a:avLst>
              <a:gd name="adj" fmla="val 50000"/>
            </a:avLst>
          </a:prstGeom>
          <a:noFill/>
          <a:ln w="7468" cap="flat">
            <a:solidFill>
              <a:srgbClr val="D2D3C8"/>
            </a:solidFill>
            <a:round/>
          </a:ln>
        </p:spPr>
      </p:sp>
      <p:sp>
        <p:nvSpPr>
          <p:cNvPr id="95" name="BUTTON"/>
          <p:cNvSpPr/>
          <p:nvPr/>
        </p:nvSpPr>
        <p:spPr>
          <a:xfrm>
            <a:off x="8918753" y="5446535"/>
            <a:ext cx="2509113" cy="343510"/>
          </a:xfrm>
          <a:prstGeom prst="roundRect">
            <a:avLst>
              <a:gd name="adj" fmla="val 15217"/>
            </a:avLst>
          </a:prstGeom>
          <a:noFill/>
          <a:ln w="7468" cap="flat">
            <a:solidFill>
              <a:srgbClr val="D2D3C8"/>
            </a:solidFill>
            <a:round/>
          </a:ln>
        </p:spPr>
      </p:sp>
      <p:sp>
        <p:nvSpPr>
          <p:cNvPr id="96" name="BUTTON"/>
          <p:cNvSpPr txBox="1"/>
          <p:nvPr/>
        </p:nvSpPr>
        <p:spPr>
          <a:xfrm>
            <a:off x="9030767" y="5536147"/>
            <a:ext cx="1763573" cy="217780"/>
          </a:xfrm>
          <a:prstGeom prst="rect">
            <a:avLst/>
          </a:prstGeom>
          <a:noFill/>
          <a:ln w="7620" cap="flat">
            <a:noFill/>
            <a:round/>
          </a:ln>
        </p:spPr>
        <p:txBody>
          <a:bodyPr wrap="none" lIns="0" rIns="0" tIns="0" bIns="0" anchor="t" rtlCol="0">
            <a:noAutofit/>
          </a:bodyPr>
          <a:lstStyle/>
          <a:p>
            <a:pPr marL="0" indent="0" algn="l" fontAlgn="base">
              <a:lnSpc>
                <a:spcPts val="941"/>
              </a:lnSpc>
              <a:spcBef>
                <a:spcPts val="0"/>
              </a:spcBef>
              <a:spcAft>
                <a:spcPts val="0"/>
              </a:spcAft>
              <a:buNone/>
            </a:pPr>
            <a:r>
              <a:rPr lang="en-AU" sz="941" b="0" spc="0" dirty="0">
                <a:solidFill>
                  <a:srgbClr val="20231F"/>
                </a:solidFill>
                <a:latin typeface="Space Grotesk"/>
                <a:ea typeface="Space Grotesk"/>
                <a:cs typeface="Space Grotesk"/>
              </a:rPr>
              <a:t xml:space="preserve">Scenario 1 </a:t>
            </a:r>
            <a:r>
              <a:rPr lang="en-AU" sz="941" b="1" spc="0" dirty="0">
                <a:solidFill>
                  <a:srgbClr val="20231F"/>
                </a:solidFill>
                <a:latin typeface="Space Grotesk"/>
                <a:ea typeface="Space Grotesk"/>
                <a:cs typeface="Space Grotesk"/>
              </a:rPr>
              <a:t xml:space="preserve">Onboard &amp; accept</a:t>
            </a:r>
            <a:endParaRPr lang="en-AU" sz="941"/>
          </a:p>
        </p:txBody>
      </p:sp>
      <p:sp>
        <p:nvSpPr>
          <p:cNvPr id="97" name="BUTTON"/>
          <p:cNvSpPr/>
          <p:nvPr/>
        </p:nvSpPr>
        <p:spPr>
          <a:xfrm>
            <a:off x="8918753" y="5864721"/>
            <a:ext cx="2509113" cy="343510"/>
          </a:xfrm>
          <a:prstGeom prst="roundRect">
            <a:avLst>
              <a:gd name="adj" fmla="val 15217"/>
            </a:avLst>
          </a:prstGeom>
          <a:noFill/>
          <a:ln w="7468" cap="flat">
            <a:solidFill>
              <a:srgbClr val="D2D3C8"/>
            </a:solidFill>
            <a:round/>
          </a:ln>
        </p:spPr>
      </p:sp>
      <p:sp>
        <p:nvSpPr>
          <p:cNvPr id="98" name="BUTTON"/>
          <p:cNvSpPr txBox="1"/>
          <p:nvPr/>
        </p:nvSpPr>
        <p:spPr>
          <a:xfrm>
            <a:off x="9030767" y="5954332"/>
            <a:ext cx="1666495" cy="217780"/>
          </a:xfrm>
          <a:prstGeom prst="rect">
            <a:avLst/>
          </a:prstGeom>
          <a:noFill/>
          <a:ln w="7620" cap="flat">
            <a:noFill/>
            <a:round/>
          </a:ln>
        </p:spPr>
        <p:txBody>
          <a:bodyPr wrap="none" lIns="0" rIns="0" tIns="0" bIns="0" anchor="t" rtlCol="0">
            <a:noAutofit/>
          </a:bodyPr>
          <a:lstStyle/>
          <a:p>
            <a:pPr marL="0" indent="0" algn="l" fontAlgn="base">
              <a:lnSpc>
                <a:spcPts val="941"/>
              </a:lnSpc>
              <a:spcBef>
                <a:spcPts val="0"/>
              </a:spcBef>
              <a:spcAft>
                <a:spcPts val="0"/>
              </a:spcAft>
              <a:buNone/>
            </a:pPr>
            <a:r>
              <a:rPr lang="en-AU" sz="941" b="0" spc="0" dirty="0">
                <a:solidFill>
                  <a:srgbClr val="20231F"/>
                </a:solidFill>
                <a:latin typeface="Space Grotesk"/>
                <a:ea typeface="Space Grotesk"/>
                <a:cs typeface="Space Grotesk"/>
              </a:rPr>
              <a:t xml:space="preserve">Scenario 2 </a:t>
            </a:r>
            <a:r>
              <a:rPr lang="en-AU" sz="941" b="1" spc="0" dirty="0">
                <a:solidFill>
                  <a:srgbClr val="20231F"/>
                </a:solidFill>
                <a:latin typeface="Space Grotesk"/>
                <a:ea typeface="Space Grotesk"/>
                <a:cs typeface="Space Grotesk"/>
              </a:rPr>
              <a:t xml:space="preserve">Reject &amp; restore</a:t>
            </a:r>
            <a:endParaRPr lang="en-AU" sz="941"/>
          </a:p>
        </p:txBody>
      </p:sp>
      <p:sp>
        <p:nvSpPr>
          <p:cNvPr id="99" name="previous-scenario"/>
          <p:cNvSpPr/>
          <p:nvPr/>
        </p:nvSpPr>
        <p:spPr>
          <a:xfrm>
            <a:off x="11502543" y="5446535"/>
            <a:ext cx="328574" cy="343510"/>
          </a:xfrm>
          <a:prstGeom prst="roundRect">
            <a:avLst>
              <a:gd name="adj" fmla="val 15909"/>
            </a:avLst>
          </a:prstGeom>
          <a:noFill/>
          <a:ln w="7468" cap="flat">
            <a:solidFill>
              <a:srgbClr val="D2D3C8">
                <a:alpha val="30000"/>
              </a:srgbClr>
            </a:solidFill>
            <a:round/>
          </a:ln>
        </p:spPr>
      </p:sp>
      <p:sp>
        <p:nvSpPr>
          <p:cNvPr id="100" name="path"/>
          <p:cNvSpPr/>
          <p:nvPr/>
        </p:nvSpPr>
        <p:spPr>
          <a:xfrm>
            <a:off x="11618913" y="5590909"/>
            <a:ext cx="95834" cy="47917"/>
          </a:xfrm>
          <a:custGeom>
            <a:avLst/>
            <a:gdLst/>
            <a:ahLst/>
            <a:cxnLst/>
            <a:rect l="0" t="0" r="r" b="b"/>
            <a:pathLst>
              <a:path w="12577" h="6288" fill="none" stroke="1" extrusionOk="0">
                <a:moveTo>
                  <a:pt x="0" y="6288"/>
                </a:moveTo>
                <a:lnTo>
                  <a:pt x="6288" y="0"/>
                </a:lnTo>
                <a:lnTo>
                  <a:pt x="12577" y="6288"/>
                </a:lnTo>
              </a:path>
            </a:pathLst>
          </a:custGeom>
          <a:noFill/>
          <a:ln w="12322" cap="flat">
            <a:solidFill>
              <a:srgbClr val="20231F">
                <a:alpha val="30000"/>
              </a:srgbClr>
            </a:solidFill>
            <a:round/>
          </a:ln>
        </p:spPr>
      </p:sp>
      <p:sp>
        <p:nvSpPr>
          <p:cNvPr id="101" name="next-scenario"/>
          <p:cNvSpPr/>
          <p:nvPr/>
        </p:nvSpPr>
        <p:spPr>
          <a:xfrm>
            <a:off x="11502543" y="5864721"/>
            <a:ext cx="328574" cy="343510"/>
          </a:xfrm>
          <a:prstGeom prst="roundRect">
            <a:avLst>
              <a:gd name="adj" fmla="val 15909"/>
            </a:avLst>
          </a:prstGeom>
          <a:noFill/>
          <a:ln w="7468" cap="flat">
            <a:solidFill>
              <a:srgbClr val="D2D3C8"/>
            </a:solidFill>
            <a:round/>
          </a:ln>
        </p:spPr>
      </p:sp>
      <p:sp>
        <p:nvSpPr>
          <p:cNvPr id="102" name="path"/>
          <p:cNvSpPr/>
          <p:nvPr/>
        </p:nvSpPr>
        <p:spPr>
          <a:xfrm>
            <a:off x="11618913" y="6015940"/>
            <a:ext cx="95834" cy="47917"/>
          </a:xfrm>
          <a:custGeom>
            <a:avLst/>
            <a:gdLst/>
            <a:ahLst/>
            <a:cxnLst/>
            <a:rect l="0" t="0" r="r" b="b"/>
            <a:pathLst>
              <a:path w="12577" h="6288" fill="none" stroke="1" extrusionOk="0">
                <a:moveTo>
                  <a:pt x="0" y="0"/>
                </a:moveTo>
                <a:lnTo>
                  <a:pt x="6288" y="6288"/>
                </a:lnTo>
                <a:lnTo>
                  <a:pt x="12577" y="0"/>
                </a:lnTo>
              </a:path>
            </a:pathLst>
          </a:custGeom>
          <a:noFill/>
          <a:ln w="12322" cap="flat">
            <a:solidFill>
              <a:srgbClr val="20231F"/>
            </a:solidFill>
            <a:round/>
          </a:ln>
        </p:spPr>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name="Demo layout.">
    <p:bg>
      <p:bgPr>
        <a:solidFill>
          <a:srgbClr val="F4F1E9"/>
        </a:solidFill>
        <a:effectLst/>
      </p:bgPr>
    </p:bg>
    <p:spTree>
      <p:nvGrpSpPr>
        <p:cNvPr id="1" name="Slide objects"/>
        <p:cNvGrpSpPr/>
        <p:nvPr/>
      </p:nvGrpSpPr>
      <p:grpSpPr>
        <a:xfrm>
          <a:off x="0" y="0"/>
          <a:ext cx="0" cy="0"/>
          <a:chOff x="0" y="0"/>
          <a:chExt cx="0" cy="0"/>
        </a:xfrm>
      </p:grpSpPr>
      <p:sp>
        <p:nvSpPr>
          <p:cNvPr id="2" name="slide-header bottom"/>
          <p:cNvSpPr/>
          <p:nvPr/>
        </p:nvSpPr>
        <p:spPr>
          <a:xfrm>
            <a:off x="360883" y="898650"/>
            <a:ext cx="11470234" cy="7620"/>
          </a:xfrm>
          <a:custGeom>
            <a:avLst/>
            <a:gdLst/>
            <a:ahLst/>
            <a:cxnLst/>
            <a:rect l="0" t="0" r="r" b="b"/>
            <a:pathLst>
              <a:path w="1505280" h="1000" fill="none" stroke="1" extrusionOk="0">
                <a:moveTo>
                  <a:pt x="0" y="0"/>
                </a:moveTo>
                <a:lnTo>
                  <a:pt x="1505280" y="0"/>
                </a:lnTo>
              </a:path>
            </a:pathLst>
          </a:custGeom>
          <a:noFill/>
          <a:ln w="7468" cap="flat">
            <a:solidFill>
              <a:srgbClr val="20231F"/>
            </a:solidFill>
            <a:round/>
          </a:ln>
        </p:spPr>
      </p:sp>
      <p:sp>
        <p:nvSpPr>
          <p:cNvPr id="3" name="demo-layout-title"/>
          <p:cNvSpPr txBox="1"/>
          <p:nvPr/>
        </p:nvSpPr>
        <p:spPr>
          <a:xfrm>
            <a:off x="360883" y="270205"/>
            <a:ext cx="2436357" cy="576224"/>
          </a:xfrm>
          <a:prstGeom prst="rect">
            <a:avLst/>
          </a:prstGeom>
          <a:noFill/>
          <a:ln w="7620" cap="flat">
            <a:noFill/>
            <a:round/>
          </a:ln>
        </p:spPr>
        <p:txBody>
          <a:bodyPr wrap="none" lIns="0" rIns="0" tIns="0" bIns="0" anchor="t" rtlCol="0">
            <a:noAutofit/>
          </a:bodyPr>
          <a:lstStyle/>
          <a:p>
            <a:pPr marL="0" indent="0" algn="l" fontAlgn="base">
              <a:lnSpc>
                <a:spcPts val="3302"/>
              </a:lnSpc>
              <a:spcBef>
                <a:spcPts val="0"/>
              </a:spcBef>
              <a:spcAft>
                <a:spcPts val="0"/>
              </a:spcAft>
              <a:buNone/>
            </a:pPr>
            <a:r>
              <a:rPr lang="en-AU" sz="3175" b="1" spc="-127" dirty="0">
                <a:solidFill>
                  <a:srgbClr val="20231F"/>
                </a:solidFill>
                <a:latin typeface="Space Grotesk"/>
                <a:ea typeface="Space Grotesk"/>
                <a:cs typeface="Space Grotesk"/>
              </a:rPr>
              <a:t xml:space="preserve">Demo layout</a:t>
            </a:r>
            <a:r>
              <a:rPr lang="en-AU" sz="3175" b="1" spc="-127" dirty="0">
                <a:solidFill>
                  <a:srgbClr val="214BE0"/>
                </a:solidFill>
                <a:latin typeface="Space Grotesk"/>
                <a:ea typeface="Space Grotesk"/>
                <a:cs typeface="Space Grotesk"/>
              </a:rPr>
              <a:t xml:space="preserve">.</a:t>
            </a:r>
            <a:endParaRPr lang="en-AU" sz="3175"/>
          </a:p>
        </p:txBody>
      </p:sp>
      <p:sp>
        <p:nvSpPr>
          <p:cNvPr id="4" name="wordmark"/>
          <p:cNvSpPr txBox="1"/>
          <p:nvPr/>
        </p:nvSpPr>
        <p:spPr>
          <a:xfrm>
            <a:off x="10739331" y="405205"/>
            <a:ext cx="1152746" cy="314858"/>
          </a:xfrm>
          <a:prstGeom prst="rect">
            <a:avLst/>
          </a:prstGeom>
          <a:noFill/>
          <a:ln w="7620" cap="flat">
            <a:noFill/>
            <a:round/>
          </a:ln>
        </p:spPr>
        <p:txBody>
          <a:bodyPr wrap="none" lIns="0" rIns="0" tIns="0" bIns="0" anchor="t" rtlCol="0">
            <a:noAutofit/>
          </a:bodyPr>
          <a:lstStyle/>
          <a:p>
            <a:pPr marL="0" indent="0" algn="l" fontAlgn="base">
              <a:lnSpc>
                <a:spcPts val="1529"/>
              </a:lnSpc>
              <a:spcBef>
                <a:spcPts val="0"/>
              </a:spcBef>
              <a:spcAft>
                <a:spcPts val="0"/>
              </a:spcAft>
              <a:buNone/>
            </a:pPr>
            <a:r>
              <a:rPr lang="en-AU" sz="1529" b="1" spc="-46" dirty="0">
                <a:solidFill>
                  <a:srgbClr val="20231F"/>
                </a:solidFill>
                <a:latin typeface="Space Grotesk"/>
                <a:ea typeface="Space Grotesk"/>
                <a:cs typeface="Space Grotesk"/>
              </a:rPr>
              <a:t xml:space="preserve">CyberScope</a:t>
            </a:r>
            <a:endParaRPr lang="en-AU" sz="1529"/>
          </a:p>
        </p:txBody>
      </p:sp>
      <p:pic>
        <p:nvPicPr>
          <p:cNvPr id="5" name="Three Raspberry Pis connected to the router before USB insertion." descr="Three Raspberry Pis connected to the router before USB insertion."/>
          <p:cNvPicPr>
            <a:picLocks noChangeAspect="1"/>
          </p:cNvPicPr>
          <p:nvPr/>
        </p:nvPicPr>
        <p:blipFill>
          <a:blip r:embed="rId11"/>
          <a:stretch>
            <a:fillRect/>
          </a:stretch>
        </p:blipFill>
        <p:spPr>
          <a:xfrm>
            <a:off x="2772374" y="1048002"/>
            <a:ext cx="6647253" cy="4985440"/>
          </a:xfrm>
          <a:prstGeom prst="rect">
            <a:avLst/>
          </a:prstGeom>
        </p:spPr>
      </p:pic>
      <p:sp>
        <p:nvSpPr>
          <p:cNvPr id="6" name="demo-caption top"/>
          <p:cNvSpPr/>
          <p:nvPr/>
        </p:nvSpPr>
        <p:spPr>
          <a:xfrm>
            <a:off x="360883" y="6152924"/>
            <a:ext cx="11470234" cy="7620"/>
          </a:xfrm>
          <a:custGeom>
            <a:avLst/>
            <a:gdLst/>
            <a:ahLst/>
            <a:cxnLst/>
            <a:rect l="0" t="0" r="r" b="b"/>
            <a:pathLst>
              <a:path w="1505280" h="1000" fill="none" stroke="1" extrusionOk="0">
                <a:moveTo>
                  <a:pt x="0" y="0"/>
                </a:moveTo>
                <a:lnTo>
                  <a:pt x="1505280" y="0"/>
                </a:lnTo>
              </a:path>
            </a:pathLst>
          </a:custGeom>
          <a:noFill/>
          <a:ln w="7468" cap="flat">
            <a:solidFill>
              <a:srgbClr val="D2D3C8"/>
            </a:solidFill>
            <a:round/>
          </a:ln>
        </p:spPr>
      </p:sp>
      <p:sp>
        <p:nvSpPr>
          <p:cNvPr id="7" name="SPAN"/>
          <p:cNvSpPr txBox="1"/>
          <p:nvPr/>
        </p:nvSpPr>
        <p:spPr>
          <a:xfrm>
            <a:off x="360883" y="6250003"/>
            <a:ext cx="1412596" cy="232715"/>
          </a:xfrm>
          <a:prstGeom prst="rect">
            <a:avLst/>
          </a:prstGeom>
          <a:noFill/>
          <a:ln w="7620" cap="flat">
            <a:noFill/>
            <a:round/>
          </a:ln>
        </p:spPr>
        <p:txBody>
          <a:bodyPr wrap="none" lIns="0" rIns="0" tIns="0" bIns="0" anchor="t" rtlCol="0">
            <a:noAutofit/>
          </a:bodyPr>
          <a:lstStyle/>
          <a:p>
            <a:pPr marL="0" indent="0" algn="l" fontAlgn="base">
              <a:lnSpc>
                <a:spcPts val="1376"/>
              </a:lnSpc>
              <a:spcBef>
                <a:spcPts val="0"/>
              </a:spcBef>
              <a:spcAft>
                <a:spcPts val="0"/>
              </a:spcAft>
              <a:buNone/>
            </a:pPr>
            <a:r>
              <a:rPr lang="en-AU" sz="1058" b="0" spc="0" dirty="0">
                <a:solidFill>
                  <a:srgbClr val="60645B"/>
                </a:solidFill>
                <a:latin typeface="Space Grotesk"/>
                <a:ea typeface="Space Grotesk"/>
                <a:cs typeface="Space Grotesk"/>
              </a:rPr>
              <a:t xml:space="preserve">Physical demo setup</a:t>
            </a:r>
            <a:endParaRPr lang="en-AU" sz="1058"/>
          </a:p>
        </p:txBody>
      </p:sp>
      <p:sp>
        <p:nvSpPr>
          <p:cNvPr id="8" name="SPAN"/>
          <p:cNvSpPr txBox="1"/>
          <p:nvPr/>
        </p:nvSpPr>
        <p:spPr>
          <a:xfrm>
            <a:off x="11076889" y="6250003"/>
            <a:ext cx="815187" cy="232715"/>
          </a:xfrm>
          <a:prstGeom prst="rect">
            <a:avLst/>
          </a:prstGeom>
          <a:noFill/>
          <a:ln w="7620" cap="flat">
            <a:noFill/>
            <a:round/>
          </a:ln>
        </p:spPr>
        <p:txBody>
          <a:bodyPr wrap="none" lIns="0" rIns="0" tIns="0" bIns="0" anchor="t" rtlCol="0">
            <a:noAutofit/>
          </a:bodyPr>
          <a:lstStyle/>
          <a:p>
            <a:pPr marL="0" indent="0" algn="l" fontAlgn="base">
              <a:lnSpc>
                <a:spcPts val="1376"/>
              </a:lnSpc>
              <a:spcBef>
                <a:spcPts val="0"/>
              </a:spcBef>
              <a:spcAft>
                <a:spcPts val="0"/>
              </a:spcAft>
              <a:buNone/>
            </a:pPr>
            <a:r>
              <a:rPr lang="en-AU" sz="1058" b="0" spc="0" dirty="0">
                <a:solidFill>
                  <a:srgbClr val="60645B"/>
                </a:solidFill>
                <a:latin typeface="Space Grotesk"/>
                <a:ea typeface="Space Grotesk"/>
                <a:cs typeface="Space Grotesk"/>
              </a:rPr>
              <a:t xml:space="preserve">Demo · 1 / 7</a:t>
            </a:r>
            <a:endParaRPr lang="en-AU" sz="1058"/>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name="All clients online and active.">
    <p:bg>
      <p:bgPr>
        <a:solidFill>
          <a:srgbClr val="F4F1E9"/>
        </a:solidFill>
        <a:effectLst/>
      </p:bgPr>
    </p:bg>
    <p:spTree>
      <p:nvGrpSpPr>
        <p:cNvPr id="1" name="Slide objects"/>
        <p:cNvGrpSpPr/>
        <p:nvPr/>
      </p:nvGrpSpPr>
      <p:grpSpPr>
        <a:xfrm>
          <a:off x="0" y="0"/>
          <a:ext cx="0" cy="0"/>
          <a:chOff x="0" y="0"/>
          <a:chExt cx="0" cy="0"/>
        </a:xfrm>
      </p:grpSpPr>
      <p:sp>
        <p:nvSpPr>
          <p:cNvPr id="2" name="slide-header bottom"/>
          <p:cNvSpPr/>
          <p:nvPr/>
        </p:nvSpPr>
        <p:spPr>
          <a:xfrm>
            <a:off x="360883" y="898650"/>
            <a:ext cx="11470234" cy="7620"/>
          </a:xfrm>
          <a:custGeom>
            <a:avLst/>
            <a:gdLst/>
            <a:ahLst/>
            <a:cxnLst/>
            <a:rect l="0" t="0" r="r" b="b"/>
            <a:pathLst>
              <a:path w="1505280" h="1000" fill="none" stroke="1" extrusionOk="0">
                <a:moveTo>
                  <a:pt x="0" y="0"/>
                </a:moveTo>
                <a:lnTo>
                  <a:pt x="1505280" y="0"/>
                </a:lnTo>
              </a:path>
            </a:pathLst>
          </a:custGeom>
          <a:noFill/>
          <a:ln w="7468" cap="flat">
            <a:solidFill>
              <a:srgbClr val="20231F"/>
            </a:solidFill>
            <a:round/>
          </a:ln>
        </p:spPr>
      </p:sp>
      <p:sp>
        <p:nvSpPr>
          <p:cNvPr id="3" name="demo-clients-online-title"/>
          <p:cNvSpPr txBox="1"/>
          <p:nvPr/>
        </p:nvSpPr>
        <p:spPr>
          <a:xfrm>
            <a:off x="360883" y="270205"/>
            <a:ext cx="4998677" cy="576224"/>
          </a:xfrm>
          <a:prstGeom prst="rect">
            <a:avLst/>
          </a:prstGeom>
          <a:noFill/>
          <a:ln w="7620" cap="flat">
            <a:noFill/>
            <a:round/>
          </a:ln>
        </p:spPr>
        <p:txBody>
          <a:bodyPr wrap="none" lIns="0" rIns="0" tIns="0" bIns="0" anchor="t" rtlCol="0">
            <a:noAutofit/>
          </a:bodyPr>
          <a:lstStyle/>
          <a:p>
            <a:pPr marL="0" indent="0" algn="l" fontAlgn="base">
              <a:lnSpc>
                <a:spcPts val="3302"/>
              </a:lnSpc>
              <a:spcBef>
                <a:spcPts val="0"/>
              </a:spcBef>
              <a:spcAft>
                <a:spcPts val="0"/>
              </a:spcAft>
              <a:buNone/>
            </a:pPr>
            <a:r>
              <a:rPr lang="en-AU" sz="3175" b="1" spc="-127" dirty="0">
                <a:solidFill>
                  <a:srgbClr val="20231F"/>
                </a:solidFill>
                <a:latin typeface="Space Grotesk"/>
                <a:ea typeface="Space Grotesk"/>
                <a:cs typeface="Space Grotesk"/>
              </a:rPr>
              <a:t xml:space="preserve">All clients online and active</a:t>
            </a:r>
            <a:r>
              <a:rPr lang="en-AU" sz="3175" b="1" spc="-127" dirty="0">
                <a:solidFill>
                  <a:srgbClr val="214BE0"/>
                </a:solidFill>
                <a:latin typeface="Space Grotesk"/>
                <a:ea typeface="Space Grotesk"/>
                <a:cs typeface="Space Grotesk"/>
              </a:rPr>
              <a:t xml:space="preserve">.</a:t>
            </a:r>
            <a:endParaRPr lang="en-AU" sz="3175"/>
          </a:p>
        </p:txBody>
      </p:sp>
      <p:sp>
        <p:nvSpPr>
          <p:cNvPr id="4" name="wordmark"/>
          <p:cNvSpPr txBox="1"/>
          <p:nvPr/>
        </p:nvSpPr>
        <p:spPr>
          <a:xfrm>
            <a:off x="10739331" y="405205"/>
            <a:ext cx="1152746" cy="314858"/>
          </a:xfrm>
          <a:prstGeom prst="rect">
            <a:avLst/>
          </a:prstGeom>
          <a:noFill/>
          <a:ln w="7620" cap="flat">
            <a:noFill/>
            <a:round/>
          </a:ln>
        </p:spPr>
        <p:txBody>
          <a:bodyPr wrap="none" lIns="0" rIns="0" tIns="0" bIns="0" anchor="t" rtlCol="0">
            <a:noAutofit/>
          </a:bodyPr>
          <a:lstStyle/>
          <a:p>
            <a:pPr marL="0" indent="0" algn="l" fontAlgn="base">
              <a:lnSpc>
                <a:spcPts val="1529"/>
              </a:lnSpc>
              <a:spcBef>
                <a:spcPts val="0"/>
              </a:spcBef>
              <a:spcAft>
                <a:spcPts val="0"/>
              </a:spcAft>
              <a:buNone/>
            </a:pPr>
            <a:r>
              <a:rPr lang="en-AU" sz="1529" b="1" spc="-46" dirty="0">
                <a:solidFill>
                  <a:srgbClr val="20231F"/>
                </a:solidFill>
                <a:latin typeface="Space Grotesk"/>
                <a:ea typeface="Space Grotesk"/>
                <a:cs typeface="Space Grotesk"/>
              </a:rPr>
              <a:t xml:space="preserve">CyberScope</a:t>
            </a:r>
            <a:endParaRPr lang="en-AU" sz="1529"/>
          </a:p>
        </p:txBody>
      </p:sp>
      <p:pic>
        <p:nvPicPr>
          <p:cNvPr id="5" name="Terminal windows showing the clients online and active with a matching integrity check." descr="Terminal windows showing the clients online and active with a matching integrity check."/>
          <p:cNvPicPr>
            <a:picLocks noChangeAspect="1"/>
          </p:cNvPicPr>
          <p:nvPr/>
        </p:nvPicPr>
        <p:blipFill>
          <a:blip r:embed="rId11"/>
          <a:stretch>
            <a:fillRect/>
          </a:stretch>
        </p:blipFill>
        <p:spPr>
          <a:xfrm>
            <a:off x="2763422" y="1048002"/>
            <a:ext cx="6665157" cy="4985440"/>
          </a:xfrm>
          <a:prstGeom prst="rect">
            <a:avLst/>
          </a:prstGeom>
        </p:spPr>
      </p:pic>
      <p:sp>
        <p:nvSpPr>
          <p:cNvPr id="6" name="demo-caption top"/>
          <p:cNvSpPr/>
          <p:nvPr/>
        </p:nvSpPr>
        <p:spPr>
          <a:xfrm>
            <a:off x="360883" y="6152924"/>
            <a:ext cx="11470234" cy="7620"/>
          </a:xfrm>
          <a:custGeom>
            <a:avLst/>
            <a:gdLst/>
            <a:ahLst/>
            <a:cxnLst/>
            <a:rect l="0" t="0" r="r" b="b"/>
            <a:pathLst>
              <a:path w="1505280" h="1000" fill="none" stroke="1" extrusionOk="0">
                <a:moveTo>
                  <a:pt x="0" y="0"/>
                </a:moveTo>
                <a:lnTo>
                  <a:pt x="1505280" y="0"/>
                </a:lnTo>
              </a:path>
            </a:pathLst>
          </a:custGeom>
          <a:noFill/>
          <a:ln w="7468" cap="flat">
            <a:solidFill>
              <a:srgbClr val="D2D3C8"/>
            </a:solidFill>
            <a:round/>
          </a:ln>
        </p:spPr>
      </p:sp>
      <p:sp>
        <p:nvSpPr>
          <p:cNvPr id="7" name="SPAN"/>
          <p:cNvSpPr txBox="1"/>
          <p:nvPr/>
        </p:nvSpPr>
        <p:spPr>
          <a:xfrm>
            <a:off x="360883" y="6250003"/>
            <a:ext cx="1823314" cy="232715"/>
          </a:xfrm>
          <a:prstGeom prst="rect">
            <a:avLst/>
          </a:prstGeom>
          <a:noFill/>
          <a:ln w="7620" cap="flat">
            <a:noFill/>
            <a:round/>
          </a:ln>
        </p:spPr>
        <p:txBody>
          <a:bodyPr wrap="none" lIns="0" rIns="0" tIns="0" bIns="0" anchor="t" rtlCol="0">
            <a:noAutofit/>
          </a:bodyPr>
          <a:lstStyle/>
          <a:p>
            <a:pPr marL="0" indent="0" algn="l" fontAlgn="base">
              <a:lnSpc>
                <a:spcPts val="1376"/>
              </a:lnSpc>
              <a:spcBef>
                <a:spcPts val="0"/>
              </a:spcBef>
              <a:spcAft>
                <a:spcPts val="0"/>
              </a:spcAft>
              <a:buNone/>
            </a:pPr>
            <a:r>
              <a:rPr lang="en-AU" sz="1058" b="0" spc="0" dirty="0">
                <a:solidFill>
                  <a:srgbClr val="60645B"/>
                </a:solidFill>
                <a:latin typeface="Space Grotesk"/>
                <a:ea typeface="Space Grotesk"/>
                <a:cs typeface="Space Grotesk"/>
              </a:rPr>
              <a:t xml:space="preserve">All clients online and active</a:t>
            </a:r>
            <a:endParaRPr lang="en-AU" sz="1058"/>
          </a:p>
        </p:txBody>
      </p:sp>
      <p:sp>
        <p:nvSpPr>
          <p:cNvPr id="8" name="SPAN"/>
          <p:cNvSpPr txBox="1"/>
          <p:nvPr/>
        </p:nvSpPr>
        <p:spPr>
          <a:xfrm>
            <a:off x="11076889" y="6250003"/>
            <a:ext cx="815187" cy="232715"/>
          </a:xfrm>
          <a:prstGeom prst="rect">
            <a:avLst/>
          </a:prstGeom>
          <a:noFill/>
          <a:ln w="7620" cap="flat">
            <a:noFill/>
            <a:round/>
          </a:ln>
        </p:spPr>
        <p:txBody>
          <a:bodyPr wrap="none" lIns="0" rIns="0" tIns="0" bIns="0" anchor="t" rtlCol="0">
            <a:noAutofit/>
          </a:bodyPr>
          <a:lstStyle/>
          <a:p>
            <a:pPr marL="0" indent="0" algn="l" fontAlgn="base">
              <a:lnSpc>
                <a:spcPts val="1376"/>
              </a:lnSpc>
              <a:spcBef>
                <a:spcPts val="0"/>
              </a:spcBef>
              <a:spcAft>
                <a:spcPts val="0"/>
              </a:spcAft>
              <a:buNone/>
            </a:pPr>
            <a:r>
              <a:rPr lang="en-AU" sz="1058" b="0" spc="0" dirty="0">
                <a:solidFill>
                  <a:srgbClr val="60645B"/>
                </a:solidFill>
                <a:latin typeface="Space Grotesk"/>
                <a:ea typeface="Space Grotesk"/>
                <a:cs typeface="Space Grotesk"/>
              </a:rPr>
              <a:t xml:space="preserve">Demo · 2 / 7</a:t>
            </a:r>
            <a:endParaRPr lang="en-AU" sz="1058"/>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name="Demo layout with USB.">
    <p:bg>
      <p:bgPr>
        <a:solidFill>
          <a:srgbClr val="F4F1E9"/>
        </a:solidFill>
        <a:effectLst/>
      </p:bgPr>
    </p:bg>
    <p:spTree>
      <p:nvGrpSpPr>
        <p:cNvPr id="1" name="Slide objects"/>
        <p:cNvGrpSpPr/>
        <p:nvPr/>
      </p:nvGrpSpPr>
      <p:grpSpPr>
        <a:xfrm>
          <a:off x="0" y="0"/>
          <a:ext cx="0" cy="0"/>
          <a:chOff x="0" y="0"/>
          <a:chExt cx="0" cy="0"/>
        </a:xfrm>
      </p:grpSpPr>
      <p:sp>
        <p:nvSpPr>
          <p:cNvPr id="2" name="slide-header bottom"/>
          <p:cNvSpPr/>
          <p:nvPr/>
        </p:nvSpPr>
        <p:spPr>
          <a:xfrm>
            <a:off x="360883" y="898650"/>
            <a:ext cx="11470234" cy="7620"/>
          </a:xfrm>
          <a:custGeom>
            <a:avLst/>
            <a:gdLst/>
            <a:ahLst/>
            <a:cxnLst/>
            <a:rect l="0" t="0" r="r" b="b"/>
            <a:pathLst>
              <a:path w="1505280" h="1000" fill="none" stroke="1" extrusionOk="0">
                <a:moveTo>
                  <a:pt x="0" y="0"/>
                </a:moveTo>
                <a:lnTo>
                  <a:pt x="1505280" y="0"/>
                </a:lnTo>
              </a:path>
            </a:pathLst>
          </a:custGeom>
          <a:noFill/>
          <a:ln w="7468" cap="flat">
            <a:solidFill>
              <a:srgbClr val="20231F"/>
            </a:solidFill>
            <a:round/>
          </a:ln>
        </p:spPr>
      </p:sp>
      <p:sp>
        <p:nvSpPr>
          <p:cNvPr id="3" name="demo-layout-usb-title"/>
          <p:cNvSpPr txBox="1"/>
          <p:nvPr/>
        </p:nvSpPr>
        <p:spPr>
          <a:xfrm>
            <a:off x="360883" y="270205"/>
            <a:ext cx="4135703" cy="576224"/>
          </a:xfrm>
          <a:prstGeom prst="rect">
            <a:avLst/>
          </a:prstGeom>
          <a:noFill/>
          <a:ln w="7620" cap="flat">
            <a:noFill/>
            <a:round/>
          </a:ln>
        </p:spPr>
        <p:txBody>
          <a:bodyPr wrap="none" lIns="0" rIns="0" tIns="0" bIns="0" anchor="t" rtlCol="0">
            <a:noAutofit/>
          </a:bodyPr>
          <a:lstStyle/>
          <a:p>
            <a:pPr marL="0" indent="0" algn="l" fontAlgn="base">
              <a:lnSpc>
                <a:spcPts val="3302"/>
              </a:lnSpc>
              <a:spcBef>
                <a:spcPts val="0"/>
              </a:spcBef>
              <a:spcAft>
                <a:spcPts val="0"/>
              </a:spcAft>
              <a:buNone/>
            </a:pPr>
            <a:r>
              <a:rPr lang="en-AU" sz="3175" b="1" spc="-127" dirty="0">
                <a:solidFill>
                  <a:srgbClr val="20231F"/>
                </a:solidFill>
                <a:latin typeface="Space Grotesk"/>
                <a:ea typeface="Space Grotesk"/>
                <a:cs typeface="Space Grotesk"/>
              </a:rPr>
              <a:t xml:space="preserve">Demo layout with USB</a:t>
            </a:r>
            <a:r>
              <a:rPr lang="en-AU" sz="3175" b="1" spc="-127" dirty="0">
                <a:solidFill>
                  <a:srgbClr val="214BE0"/>
                </a:solidFill>
                <a:latin typeface="Space Grotesk"/>
                <a:ea typeface="Space Grotesk"/>
                <a:cs typeface="Space Grotesk"/>
              </a:rPr>
              <a:t xml:space="preserve">.</a:t>
            </a:r>
            <a:endParaRPr lang="en-AU" sz="3175"/>
          </a:p>
        </p:txBody>
      </p:sp>
      <p:sp>
        <p:nvSpPr>
          <p:cNvPr id="4" name="wordmark"/>
          <p:cNvSpPr txBox="1"/>
          <p:nvPr/>
        </p:nvSpPr>
        <p:spPr>
          <a:xfrm>
            <a:off x="10739331" y="405205"/>
            <a:ext cx="1152746" cy="314858"/>
          </a:xfrm>
          <a:prstGeom prst="rect">
            <a:avLst/>
          </a:prstGeom>
          <a:noFill/>
          <a:ln w="7620" cap="flat">
            <a:noFill/>
            <a:round/>
          </a:ln>
        </p:spPr>
        <p:txBody>
          <a:bodyPr wrap="none" lIns="0" rIns="0" tIns="0" bIns="0" anchor="t" rtlCol="0">
            <a:noAutofit/>
          </a:bodyPr>
          <a:lstStyle/>
          <a:p>
            <a:pPr marL="0" indent="0" algn="l" fontAlgn="base">
              <a:lnSpc>
                <a:spcPts val="1529"/>
              </a:lnSpc>
              <a:spcBef>
                <a:spcPts val="0"/>
              </a:spcBef>
              <a:spcAft>
                <a:spcPts val="0"/>
              </a:spcAft>
              <a:buNone/>
            </a:pPr>
            <a:r>
              <a:rPr lang="en-AU" sz="1529" b="1" spc="-46" dirty="0">
                <a:solidFill>
                  <a:srgbClr val="20231F"/>
                </a:solidFill>
                <a:latin typeface="Space Grotesk"/>
                <a:ea typeface="Space Grotesk"/>
                <a:cs typeface="Space Grotesk"/>
              </a:rPr>
              <a:t xml:space="preserve">CyberScope</a:t>
            </a:r>
            <a:endParaRPr lang="en-AU" sz="1529"/>
          </a:p>
        </p:txBody>
      </p:sp>
      <p:pic>
        <p:nvPicPr>
          <p:cNvPr id="5" name="The same Raspberry Pi and router setup with a USB device inserted into a client." descr="The same Raspberry Pi and router setup with a USB device inserted into a client."/>
          <p:cNvPicPr>
            <a:picLocks noChangeAspect="1"/>
          </p:cNvPicPr>
          <p:nvPr/>
        </p:nvPicPr>
        <p:blipFill>
          <a:blip r:embed="rId11"/>
          <a:stretch>
            <a:fillRect/>
          </a:stretch>
        </p:blipFill>
        <p:spPr>
          <a:xfrm>
            <a:off x="2772374" y="1048002"/>
            <a:ext cx="6647253" cy="4985440"/>
          </a:xfrm>
          <a:prstGeom prst="rect">
            <a:avLst/>
          </a:prstGeom>
        </p:spPr>
      </p:pic>
      <p:sp>
        <p:nvSpPr>
          <p:cNvPr id="6" name="demo-caption top"/>
          <p:cNvSpPr/>
          <p:nvPr/>
        </p:nvSpPr>
        <p:spPr>
          <a:xfrm>
            <a:off x="360883" y="6152924"/>
            <a:ext cx="11470234" cy="7620"/>
          </a:xfrm>
          <a:custGeom>
            <a:avLst/>
            <a:gdLst/>
            <a:ahLst/>
            <a:cxnLst/>
            <a:rect l="0" t="0" r="r" b="b"/>
            <a:pathLst>
              <a:path w="1505280" h="1000" fill="none" stroke="1" extrusionOk="0">
                <a:moveTo>
                  <a:pt x="0" y="0"/>
                </a:moveTo>
                <a:lnTo>
                  <a:pt x="1505280" y="0"/>
                </a:lnTo>
              </a:path>
            </a:pathLst>
          </a:custGeom>
          <a:noFill/>
          <a:ln w="7468" cap="flat">
            <a:solidFill>
              <a:srgbClr val="D2D3C8"/>
            </a:solidFill>
            <a:round/>
          </a:ln>
        </p:spPr>
      </p:sp>
      <p:sp>
        <p:nvSpPr>
          <p:cNvPr id="7" name="SPAN"/>
          <p:cNvSpPr txBox="1"/>
          <p:nvPr/>
        </p:nvSpPr>
        <p:spPr>
          <a:xfrm>
            <a:off x="360883" y="6250003"/>
            <a:ext cx="1778508" cy="232715"/>
          </a:xfrm>
          <a:prstGeom prst="rect">
            <a:avLst/>
          </a:prstGeom>
          <a:noFill/>
          <a:ln w="7620" cap="flat">
            <a:noFill/>
            <a:round/>
          </a:ln>
        </p:spPr>
        <p:txBody>
          <a:bodyPr wrap="none" lIns="0" rIns="0" tIns="0" bIns="0" anchor="t" rtlCol="0">
            <a:noAutofit/>
          </a:bodyPr>
          <a:lstStyle/>
          <a:p>
            <a:pPr marL="0" indent="0" algn="l" fontAlgn="base">
              <a:lnSpc>
                <a:spcPts val="1376"/>
              </a:lnSpc>
              <a:spcBef>
                <a:spcPts val="0"/>
              </a:spcBef>
              <a:spcAft>
                <a:spcPts val="0"/>
              </a:spcAft>
              <a:buNone/>
            </a:pPr>
            <a:r>
              <a:rPr lang="en-AU" sz="1058" b="0" spc="0" dirty="0">
                <a:solidFill>
                  <a:srgbClr val="60645B"/>
                </a:solidFill>
                <a:latin typeface="Space Grotesk"/>
                <a:ea typeface="Space Grotesk"/>
                <a:cs typeface="Space Grotesk"/>
              </a:rPr>
              <a:t xml:space="preserve">USB connected to a client</a:t>
            </a:r>
            <a:endParaRPr lang="en-AU" sz="1058"/>
          </a:p>
        </p:txBody>
      </p:sp>
      <p:sp>
        <p:nvSpPr>
          <p:cNvPr id="8" name="SPAN"/>
          <p:cNvSpPr txBox="1"/>
          <p:nvPr/>
        </p:nvSpPr>
        <p:spPr>
          <a:xfrm>
            <a:off x="11076889" y="6250003"/>
            <a:ext cx="815187" cy="232715"/>
          </a:xfrm>
          <a:prstGeom prst="rect">
            <a:avLst/>
          </a:prstGeom>
          <a:noFill/>
          <a:ln w="7620" cap="flat">
            <a:noFill/>
            <a:round/>
          </a:ln>
        </p:spPr>
        <p:txBody>
          <a:bodyPr wrap="none" lIns="0" rIns="0" tIns="0" bIns="0" anchor="t" rtlCol="0">
            <a:noAutofit/>
          </a:bodyPr>
          <a:lstStyle/>
          <a:p>
            <a:pPr marL="0" indent="0" algn="l" fontAlgn="base">
              <a:lnSpc>
                <a:spcPts val="1376"/>
              </a:lnSpc>
              <a:spcBef>
                <a:spcPts val="0"/>
              </a:spcBef>
              <a:spcAft>
                <a:spcPts val="0"/>
              </a:spcAft>
              <a:buNone/>
            </a:pPr>
            <a:r>
              <a:rPr lang="en-AU" sz="1058" b="0" spc="0" dirty="0">
                <a:solidFill>
                  <a:srgbClr val="60645B"/>
                </a:solidFill>
                <a:latin typeface="Space Grotesk"/>
                <a:ea typeface="Space Grotesk"/>
                <a:cs typeface="Space Grotesk"/>
              </a:rPr>
              <a:t xml:space="preserve">Demo · 3 / 7</a:t>
            </a:r>
            <a:endParaRPr lang="en-AU" sz="1058"/>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name="Clients active: deviation detected.">
    <p:bg>
      <p:bgPr>
        <a:solidFill>
          <a:srgbClr val="F4F1E9"/>
        </a:solidFill>
        <a:effectLst/>
      </p:bgPr>
    </p:bg>
    <p:spTree>
      <p:nvGrpSpPr>
        <p:cNvPr id="1" name="Slide objects"/>
        <p:cNvGrpSpPr/>
        <p:nvPr/>
      </p:nvGrpSpPr>
      <p:grpSpPr>
        <a:xfrm>
          <a:off x="0" y="0"/>
          <a:ext cx="0" cy="0"/>
          <a:chOff x="0" y="0"/>
          <a:chExt cx="0" cy="0"/>
        </a:xfrm>
      </p:grpSpPr>
      <p:sp>
        <p:nvSpPr>
          <p:cNvPr id="2" name="slide-header bottom"/>
          <p:cNvSpPr/>
          <p:nvPr/>
        </p:nvSpPr>
        <p:spPr>
          <a:xfrm>
            <a:off x="360883" y="898650"/>
            <a:ext cx="11470234" cy="7620"/>
          </a:xfrm>
          <a:custGeom>
            <a:avLst/>
            <a:gdLst/>
            <a:ahLst/>
            <a:cxnLst/>
            <a:rect l="0" t="0" r="r" b="b"/>
            <a:pathLst>
              <a:path w="1505280" h="1000" fill="none" stroke="1" extrusionOk="0">
                <a:moveTo>
                  <a:pt x="0" y="0"/>
                </a:moveTo>
                <a:lnTo>
                  <a:pt x="1505280" y="0"/>
                </a:lnTo>
              </a:path>
            </a:pathLst>
          </a:custGeom>
          <a:noFill/>
          <a:ln w="7468" cap="flat">
            <a:solidFill>
              <a:srgbClr val="20231F"/>
            </a:solidFill>
            <a:round/>
          </a:ln>
        </p:spPr>
      </p:sp>
      <p:sp>
        <p:nvSpPr>
          <p:cNvPr id="3" name="demo-deviation-title"/>
          <p:cNvSpPr txBox="1"/>
          <p:nvPr/>
        </p:nvSpPr>
        <p:spPr>
          <a:xfrm>
            <a:off x="360883" y="270205"/>
            <a:ext cx="6172491" cy="576224"/>
          </a:xfrm>
          <a:prstGeom prst="rect">
            <a:avLst/>
          </a:prstGeom>
          <a:noFill/>
          <a:ln w="7620" cap="flat">
            <a:noFill/>
            <a:round/>
          </a:ln>
        </p:spPr>
        <p:txBody>
          <a:bodyPr wrap="none" lIns="0" rIns="0" tIns="0" bIns="0" anchor="t" rtlCol="0">
            <a:noAutofit/>
          </a:bodyPr>
          <a:lstStyle/>
          <a:p>
            <a:pPr marL="0" indent="0" algn="l" fontAlgn="base">
              <a:lnSpc>
                <a:spcPts val="3302"/>
              </a:lnSpc>
              <a:spcBef>
                <a:spcPts val="0"/>
              </a:spcBef>
              <a:spcAft>
                <a:spcPts val="0"/>
              </a:spcAft>
              <a:buNone/>
            </a:pPr>
            <a:r>
              <a:rPr lang="en-AU" sz="3175" b="1" spc="-127" dirty="0">
                <a:solidFill>
                  <a:srgbClr val="20231F"/>
                </a:solidFill>
                <a:latin typeface="Space Grotesk"/>
                <a:ea typeface="Space Grotesk"/>
                <a:cs typeface="Space Grotesk"/>
              </a:rPr>
              <a:t xml:space="preserve">Clients active: deviation detected</a:t>
            </a:r>
            <a:r>
              <a:rPr lang="en-AU" sz="3175" b="1" spc="-127" dirty="0">
                <a:solidFill>
                  <a:srgbClr val="214BE0"/>
                </a:solidFill>
                <a:latin typeface="Space Grotesk"/>
                <a:ea typeface="Space Grotesk"/>
                <a:cs typeface="Space Grotesk"/>
              </a:rPr>
              <a:t xml:space="preserve">.</a:t>
            </a:r>
            <a:endParaRPr lang="en-AU" sz="3175"/>
          </a:p>
        </p:txBody>
      </p:sp>
      <p:sp>
        <p:nvSpPr>
          <p:cNvPr id="4" name="wordmark"/>
          <p:cNvSpPr txBox="1"/>
          <p:nvPr/>
        </p:nvSpPr>
        <p:spPr>
          <a:xfrm>
            <a:off x="10739331" y="405205"/>
            <a:ext cx="1152746" cy="314858"/>
          </a:xfrm>
          <a:prstGeom prst="rect">
            <a:avLst/>
          </a:prstGeom>
          <a:noFill/>
          <a:ln w="7620" cap="flat">
            <a:noFill/>
            <a:round/>
          </a:ln>
        </p:spPr>
        <p:txBody>
          <a:bodyPr wrap="none" lIns="0" rIns="0" tIns="0" bIns="0" anchor="t" rtlCol="0">
            <a:noAutofit/>
          </a:bodyPr>
          <a:lstStyle/>
          <a:p>
            <a:pPr marL="0" indent="0" algn="l" fontAlgn="base">
              <a:lnSpc>
                <a:spcPts val="1529"/>
              </a:lnSpc>
              <a:spcBef>
                <a:spcPts val="0"/>
              </a:spcBef>
              <a:spcAft>
                <a:spcPts val="0"/>
              </a:spcAft>
              <a:buNone/>
            </a:pPr>
            <a:r>
              <a:rPr lang="en-AU" sz="1529" b="1" spc="-46" dirty="0">
                <a:solidFill>
                  <a:srgbClr val="20231F"/>
                </a:solidFill>
                <a:latin typeface="Space Grotesk"/>
                <a:ea typeface="Space Grotesk"/>
                <a:cs typeface="Space Grotesk"/>
              </a:rPr>
              <a:t xml:space="preserve">CyberScope</a:t>
            </a:r>
            <a:endParaRPr lang="en-AU" sz="1529"/>
          </a:p>
        </p:txBody>
      </p:sp>
      <p:pic>
        <p:nvPicPr>
          <p:cNvPr id="5" name="Client and verifier terminals showing a changed hash and an integrity deviation." descr="Client and verifier terminals showing a changed hash and an integrity deviation."/>
          <p:cNvPicPr>
            <a:picLocks noChangeAspect="1"/>
          </p:cNvPicPr>
          <p:nvPr/>
        </p:nvPicPr>
        <p:blipFill>
          <a:blip r:embed="rId11"/>
          <a:stretch>
            <a:fillRect/>
          </a:stretch>
        </p:blipFill>
        <p:spPr>
          <a:xfrm>
            <a:off x="2811823" y="1048002"/>
            <a:ext cx="6568354" cy="4985440"/>
          </a:xfrm>
          <a:prstGeom prst="rect">
            <a:avLst/>
          </a:prstGeom>
        </p:spPr>
      </p:pic>
      <p:sp>
        <p:nvSpPr>
          <p:cNvPr id="6" name="demo-caption top"/>
          <p:cNvSpPr/>
          <p:nvPr/>
        </p:nvSpPr>
        <p:spPr>
          <a:xfrm>
            <a:off x="360883" y="6152924"/>
            <a:ext cx="11470234" cy="7620"/>
          </a:xfrm>
          <a:custGeom>
            <a:avLst/>
            <a:gdLst/>
            <a:ahLst/>
            <a:cxnLst/>
            <a:rect l="0" t="0" r="r" b="b"/>
            <a:pathLst>
              <a:path w="1505280" h="1000" fill="none" stroke="1" extrusionOk="0">
                <a:moveTo>
                  <a:pt x="0" y="0"/>
                </a:moveTo>
                <a:lnTo>
                  <a:pt x="1505280" y="0"/>
                </a:lnTo>
              </a:path>
            </a:pathLst>
          </a:custGeom>
          <a:noFill/>
          <a:ln w="7468" cap="flat">
            <a:solidFill>
              <a:srgbClr val="D2D3C8"/>
            </a:solidFill>
            <a:round/>
          </a:ln>
        </p:spPr>
      </p:sp>
      <p:sp>
        <p:nvSpPr>
          <p:cNvPr id="7" name="SPAN"/>
          <p:cNvSpPr txBox="1"/>
          <p:nvPr/>
        </p:nvSpPr>
        <p:spPr>
          <a:xfrm>
            <a:off x="360883" y="6250003"/>
            <a:ext cx="2278837" cy="232715"/>
          </a:xfrm>
          <a:prstGeom prst="rect">
            <a:avLst/>
          </a:prstGeom>
          <a:noFill/>
          <a:ln w="7620" cap="flat">
            <a:noFill/>
            <a:round/>
          </a:ln>
        </p:spPr>
        <p:txBody>
          <a:bodyPr wrap="none" lIns="0" rIns="0" tIns="0" bIns="0" anchor="t" rtlCol="0">
            <a:noAutofit/>
          </a:bodyPr>
          <a:lstStyle/>
          <a:p>
            <a:pPr marL="0" indent="0" algn="l" fontAlgn="base">
              <a:lnSpc>
                <a:spcPts val="1376"/>
              </a:lnSpc>
              <a:spcBef>
                <a:spcPts val="0"/>
              </a:spcBef>
              <a:spcAft>
                <a:spcPts val="0"/>
              </a:spcAft>
              <a:buNone/>
            </a:pPr>
            <a:r>
              <a:rPr lang="en-AU" sz="1058" b="0" spc="0" dirty="0">
                <a:solidFill>
                  <a:srgbClr val="60645B"/>
                </a:solidFill>
                <a:latin typeface="Space Grotesk"/>
                <a:ea typeface="Space Grotesk"/>
                <a:cs typeface="Space Grotesk"/>
              </a:rPr>
              <a:t xml:space="preserve">Clients active; deviation detected</a:t>
            </a:r>
            <a:endParaRPr lang="en-AU" sz="1058"/>
          </a:p>
        </p:txBody>
      </p:sp>
      <p:sp>
        <p:nvSpPr>
          <p:cNvPr id="8" name="SPAN"/>
          <p:cNvSpPr txBox="1"/>
          <p:nvPr/>
        </p:nvSpPr>
        <p:spPr>
          <a:xfrm>
            <a:off x="11076889" y="6250003"/>
            <a:ext cx="815187" cy="232715"/>
          </a:xfrm>
          <a:prstGeom prst="rect">
            <a:avLst/>
          </a:prstGeom>
          <a:noFill/>
          <a:ln w="7620" cap="flat">
            <a:noFill/>
            <a:round/>
          </a:ln>
        </p:spPr>
        <p:txBody>
          <a:bodyPr wrap="none" lIns="0" rIns="0" tIns="0" bIns="0" anchor="t" rtlCol="0">
            <a:noAutofit/>
          </a:bodyPr>
          <a:lstStyle/>
          <a:p>
            <a:pPr marL="0" indent="0" algn="l" fontAlgn="base">
              <a:lnSpc>
                <a:spcPts val="1376"/>
              </a:lnSpc>
              <a:spcBef>
                <a:spcPts val="0"/>
              </a:spcBef>
              <a:spcAft>
                <a:spcPts val="0"/>
              </a:spcAft>
              <a:buNone/>
            </a:pPr>
            <a:r>
              <a:rPr lang="en-AU" sz="1058" b="0" spc="0" dirty="0">
                <a:solidFill>
                  <a:srgbClr val="60645B"/>
                </a:solidFill>
                <a:latin typeface="Space Grotesk"/>
                <a:ea typeface="Space Grotesk"/>
                <a:cs typeface="Space Grotesk"/>
              </a:rPr>
              <a:t xml:space="preserve">Demo · 4 / 7</a:t>
            </a:r>
            <a:endParaRPr lang="en-AU" sz="1058"/>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name="Discord alert.">
    <p:bg>
      <p:bgPr>
        <a:solidFill>
          <a:srgbClr val="F4F1E9"/>
        </a:solidFill>
        <a:effectLst/>
      </p:bgPr>
    </p:bg>
    <p:spTree>
      <p:nvGrpSpPr>
        <p:cNvPr id="1" name="Slide objects"/>
        <p:cNvGrpSpPr/>
        <p:nvPr/>
      </p:nvGrpSpPr>
      <p:grpSpPr>
        <a:xfrm>
          <a:off x="0" y="0"/>
          <a:ext cx="0" cy="0"/>
          <a:chOff x="0" y="0"/>
          <a:chExt cx="0" cy="0"/>
        </a:xfrm>
      </p:grpSpPr>
      <p:sp>
        <p:nvSpPr>
          <p:cNvPr id="2" name="slide-header bottom"/>
          <p:cNvSpPr/>
          <p:nvPr/>
        </p:nvSpPr>
        <p:spPr>
          <a:xfrm>
            <a:off x="360883" y="898650"/>
            <a:ext cx="11470234" cy="7620"/>
          </a:xfrm>
          <a:custGeom>
            <a:avLst/>
            <a:gdLst/>
            <a:ahLst/>
            <a:cxnLst/>
            <a:rect l="0" t="0" r="r" b="b"/>
            <a:pathLst>
              <a:path w="1505280" h="1000" fill="none" stroke="1" extrusionOk="0">
                <a:moveTo>
                  <a:pt x="0" y="0"/>
                </a:moveTo>
                <a:lnTo>
                  <a:pt x="1505280" y="0"/>
                </a:lnTo>
              </a:path>
            </a:pathLst>
          </a:custGeom>
          <a:noFill/>
          <a:ln w="7468" cap="flat">
            <a:solidFill>
              <a:srgbClr val="20231F"/>
            </a:solidFill>
            <a:round/>
          </a:ln>
        </p:spPr>
      </p:sp>
      <p:sp>
        <p:nvSpPr>
          <p:cNvPr id="3" name="demo-discord-title"/>
          <p:cNvSpPr txBox="1"/>
          <p:nvPr/>
        </p:nvSpPr>
        <p:spPr>
          <a:xfrm>
            <a:off x="360883" y="270205"/>
            <a:ext cx="2441374" cy="576224"/>
          </a:xfrm>
          <a:prstGeom prst="rect">
            <a:avLst/>
          </a:prstGeom>
          <a:noFill/>
          <a:ln w="7620" cap="flat">
            <a:noFill/>
            <a:round/>
          </a:ln>
        </p:spPr>
        <p:txBody>
          <a:bodyPr wrap="none" lIns="0" rIns="0" tIns="0" bIns="0" anchor="t" rtlCol="0">
            <a:noAutofit/>
          </a:bodyPr>
          <a:lstStyle/>
          <a:p>
            <a:pPr marL="0" indent="0" algn="l" fontAlgn="base">
              <a:lnSpc>
                <a:spcPts val="3302"/>
              </a:lnSpc>
              <a:spcBef>
                <a:spcPts val="0"/>
              </a:spcBef>
              <a:spcAft>
                <a:spcPts val="0"/>
              </a:spcAft>
              <a:buNone/>
            </a:pPr>
            <a:r>
              <a:rPr lang="en-AU" sz="3175" b="1" spc="-127" dirty="0">
                <a:solidFill>
                  <a:srgbClr val="20231F"/>
                </a:solidFill>
                <a:latin typeface="Space Grotesk"/>
                <a:ea typeface="Space Grotesk"/>
                <a:cs typeface="Space Grotesk"/>
              </a:rPr>
              <a:t xml:space="preserve">Discord alert</a:t>
            </a:r>
            <a:r>
              <a:rPr lang="en-AU" sz="3175" b="1" spc="-127" dirty="0">
                <a:solidFill>
                  <a:srgbClr val="214BE0"/>
                </a:solidFill>
                <a:latin typeface="Space Grotesk"/>
                <a:ea typeface="Space Grotesk"/>
                <a:cs typeface="Space Grotesk"/>
              </a:rPr>
              <a:t xml:space="preserve">.</a:t>
            </a:r>
            <a:endParaRPr lang="en-AU" sz="3175"/>
          </a:p>
        </p:txBody>
      </p:sp>
      <p:sp>
        <p:nvSpPr>
          <p:cNvPr id="4" name="wordmark"/>
          <p:cNvSpPr txBox="1"/>
          <p:nvPr/>
        </p:nvSpPr>
        <p:spPr>
          <a:xfrm>
            <a:off x="10739331" y="405205"/>
            <a:ext cx="1152746" cy="314858"/>
          </a:xfrm>
          <a:prstGeom prst="rect">
            <a:avLst/>
          </a:prstGeom>
          <a:noFill/>
          <a:ln w="7620" cap="flat">
            <a:noFill/>
            <a:round/>
          </a:ln>
        </p:spPr>
        <p:txBody>
          <a:bodyPr wrap="none" lIns="0" rIns="0" tIns="0" bIns="0" anchor="t" rtlCol="0">
            <a:noAutofit/>
          </a:bodyPr>
          <a:lstStyle/>
          <a:p>
            <a:pPr marL="0" indent="0" algn="l" fontAlgn="base">
              <a:lnSpc>
                <a:spcPts val="1529"/>
              </a:lnSpc>
              <a:spcBef>
                <a:spcPts val="0"/>
              </a:spcBef>
              <a:spcAft>
                <a:spcPts val="0"/>
              </a:spcAft>
              <a:buNone/>
            </a:pPr>
            <a:r>
              <a:rPr lang="en-AU" sz="1529" b="1" spc="-46" dirty="0">
                <a:solidFill>
                  <a:srgbClr val="20231F"/>
                </a:solidFill>
                <a:latin typeface="Space Grotesk"/>
                <a:ea typeface="Space Grotesk"/>
                <a:cs typeface="Space Grotesk"/>
              </a:rPr>
              <a:t xml:space="preserve">CyberScope</a:t>
            </a:r>
            <a:endParaRPr lang="en-AU" sz="1529"/>
          </a:p>
        </p:txBody>
      </p:sp>
      <p:pic>
        <p:nvPicPr>
          <p:cNvPr id="5" name="Discord critical alert reporting that device-01 has a hash that differs from its baseline." descr="Discord critical alert reporting that device-01 has a hash that differs from its baseline."/>
          <p:cNvPicPr>
            <a:picLocks noChangeAspect="1"/>
          </p:cNvPicPr>
          <p:nvPr/>
        </p:nvPicPr>
        <p:blipFill>
          <a:blip r:embed="rId11"/>
          <a:stretch>
            <a:fillRect/>
          </a:stretch>
        </p:blipFill>
        <p:spPr>
          <a:xfrm>
            <a:off x="360883" y="1307579"/>
            <a:ext cx="11470234" cy="4466286"/>
          </a:xfrm>
          <a:prstGeom prst="rect">
            <a:avLst/>
          </a:prstGeom>
        </p:spPr>
      </p:pic>
      <p:sp>
        <p:nvSpPr>
          <p:cNvPr id="6" name="demo-caption top"/>
          <p:cNvSpPr/>
          <p:nvPr/>
        </p:nvSpPr>
        <p:spPr>
          <a:xfrm>
            <a:off x="360883" y="6152924"/>
            <a:ext cx="11470234" cy="7620"/>
          </a:xfrm>
          <a:custGeom>
            <a:avLst/>
            <a:gdLst/>
            <a:ahLst/>
            <a:cxnLst/>
            <a:rect l="0" t="0" r="r" b="b"/>
            <a:pathLst>
              <a:path w="1505280" h="1000" fill="none" stroke="1" extrusionOk="0">
                <a:moveTo>
                  <a:pt x="0" y="0"/>
                </a:moveTo>
                <a:lnTo>
                  <a:pt x="1505280" y="0"/>
                </a:lnTo>
              </a:path>
            </a:pathLst>
          </a:custGeom>
          <a:noFill/>
          <a:ln w="7468" cap="flat">
            <a:solidFill>
              <a:srgbClr val="D2D3C8"/>
            </a:solidFill>
            <a:round/>
          </a:ln>
        </p:spPr>
      </p:sp>
      <p:sp>
        <p:nvSpPr>
          <p:cNvPr id="7" name="SPAN"/>
          <p:cNvSpPr txBox="1"/>
          <p:nvPr/>
        </p:nvSpPr>
        <p:spPr>
          <a:xfrm>
            <a:off x="360883" y="6250003"/>
            <a:ext cx="1494739" cy="232715"/>
          </a:xfrm>
          <a:prstGeom prst="rect">
            <a:avLst/>
          </a:prstGeom>
          <a:noFill/>
          <a:ln w="7620" cap="flat">
            <a:noFill/>
            <a:round/>
          </a:ln>
        </p:spPr>
        <p:txBody>
          <a:bodyPr wrap="none" lIns="0" rIns="0" tIns="0" bIns="0" anchor="t" rtlCol="0">
            <a:noAutofit/>
          </a:bodyPr>
          <a:lstStyle/>
          <a:p>
            <a:pPr marL="0" indent="0" algn="l" fontAlgn="base">
              <a:lnSpc>
                <a:spcPts val="1376"/>
              </a:lnSpc>
              <a:spcBef>
                <a:spcPts val="0"/>
              </a:spcBef>
              <a:spcAft>
                <a:spcPts val="0"/>
              </a:spcAft>
              <a:buNone/>
            </a:pPr>
            <a:r>
              <a:rPr lang="en-AU" sz="1058" b="0" spc="0" dirty="0">
                <a:solidFill>
                  <a:srgbClr val="60645B"/>
                </a:solidFill>
                <a:latin typeface="Space Grotesk"/>
                <a:ea typeface="Space Grotesk"/>
                <a:cs typeface="Space Grotesk"/>
              </a:rPr>
              <a:t xml:space="preserve">Discord integrity alert</a:t>
            </a:r>
            <a:endParaRPr lang="en-AU" sz="1058"/>
          </a:p>
        </p:txBody>
      </p:sp>
      <p:sp>
        <p:nvSpPr>
          <p:cNvPr id="8" name="SPAN"/>
          <p:cNvSpPr txBox="1"/>
          <p:nvPr/>
        </p:nvSpPr>
        <p:spPr>
          <a:xfrm>
            <a:off x="11076889" y="6250003"/>
            <a:ext cx="815187" cy="232715"/>
          </a:xfrm>
          <a:prstGeom prst="rect">
            <a:avLst/>
          </a:prstGeom>
          <a:noFill/>
          <a:ln w="7620" cap="flat">
            <a:noFill/>
            <a:round/>
          </a:ln>
        </p:spPr>
        <p:txBody>
          <a:bodyPr wrap="none" lIns="0" rIns="0" tIns="0" bIns="0" anchor="t" rtlCol="0">
            <a:noAutofit/>
          </a:bodyPr>
          <a:lstStyle/>
          <a:p>
            <a:pPr marL="0" indent="0" algn="l" fontAlgn="base">
              <a:lnSpc>
                <a:spcPts val="1376"/>
              </a:lnSpc>
              <a:spcBef>
                <a:spcPts val="0"/>
              </a:spcBef>
              <a:spcAft>
                <a:spcPts val="0"/>
              </a:spcAft>
              <a:buNone/>
            </a:pPr>
            <a:r>
              <a:rPr lang="en-AU" sz="1058" b="0" spc="0" dirty="0">
                <a:solidFill>
                  <a:srgbClr val="60645B"/>
                </a:solidFill>
                <a:latin typeface="Space Grotesk"/>
                <a:ea typeface="Space Grotesk"/>
                <a:cs typeface="Space Grotesk"/>
              </a:rPr>
              <a:t xml:space="preserve">Demo · 5 / 7</a:t>
            </a:r>
            <a:endParaRPr lang="en-AU" sz="1058"/>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name="Advanced hunting query.">
    <p:bg>
      <p:bgPr>
        <a:solidFill>
          <a:srgbClr val="F4F1E9"/>
        </a:solidFill>
        <a:effectLst/>
      </p:bgPr>
    </p:bg>
    <p:spTree>
      <p:nvGrpSpPr>
        <p:cNvPr id="1" name="Slide objects"/>
        <p:cNvGrpSpPr/>
        <p:nvPr/>
      </p:nvGrpSpPr>
      <p:grpSpPr>
        <a:xfrm>
          <a:off x="0" y="0"/>
          <a:ext cx="0" cy="0"/>
          <a:chOff x="0" y="0"/>
          <a:chExt cx="0" cy="0"/>
        </a:xfrm>
      </p:grpSpPr>
      <p:sp>
        <p:nvSpPr>
          <p:cNvPr id="2" name="slide-header bottom"/>
          <p:cNvSpPr/>
          <p:nvPr/>
        </p:nvSpPr>
        <p:spPr>
          <a:xfrm>
            <a:off x="360883" y="898650"/>
            <a:ext cx="11470234" cy="7620"/>
          </a:xfrm>
          <a:custGeom>
            <a:avLst/>
            <a:gdLst/>
            <a:ahLst/>
            <a:cxnLst/>
            <a:rect l="0" t="0" r="r" b="b"/>
            <a:pathLst>
              <a:path w="1505280" h="1000" fill="none" stroke="1" extrusionOk="0">
                <a:moveTo>
                  <a:pt x="0" y="0"/>
                </a:moveTo>
                <a:lnTo>
                  <a:pt x="1505280" y="0"/>
                </a:lnTo>
              </a:path>
            </a:pathLst>
          </a:custGeom>
          <a:noFill/>
          <a:ln w="7468" cap="flat">
            <a:solidFill>
              <a:srgbClr val="20231F"/>
            </a:solidFill>
            <a:round/>
          </a:ln>
        </p:spPr>
      </p:sp>
      <p:sp>
        <p:nvSpPr>
          <p:cNvPr id="3" name="demo-hunting-title"/>
          <p:cNvSpPr txBox="1"/>
          <p:nvPr/>
        </p:nvSpPr>
        <p:spPr>
          <a:xfrm>
            <a:off x="360883" y="270205"/>
            <a:ext cx="4603711" cy="576224"/>
          </a:xfrm>
          <a:prstGeom prst="rect">
            <a:avLst/>
          </a:prstGeom>
          <a:noFill/>
          <a:ln w="7620" cap="flat">
            <a:noFill/>
            <a:round/>
          </a:ln>
        </p:spPr>
        <p:txBody>
          <a:bodyPr wrap="none" lIns="0" rIns="0" tIns="0" bIns="0" anchor="t" rtlCol="0">
            <a:noAutofit/>
          </a:bodyPr>
          <a:lstStyle/>
          <a:p>
            <a:pPr marL="0" indent="0" algn="l" fontAlgn="base">
              <a:lnSpc>
                <a:spcPts val="3302"/>
              </a:lnSpc>
              <a:spcBef>
                <a:spcPts val="0"/>
              </a:spcBef>
              <a:spcAft>
                <a:spcPts val="0"/>
              </a:spcAft>
              <a:buNone/>
            </a:pPr>
            <a:r>
              <a:rPr lang="en-AU" sz="3175" b="1" spc="-127" dirty="0">
                <a:solidFill>
                  <a:srgbClr val="20231F"/>
                </a:solidFill>
                <a:latin typeface="Space Grotesk"/>
                <a:ea typeface="Space Grotesk"/>
                <a:cs typeface="Space Grotesk"/>
              </a:rPr>
              <a:t xml:space="preserve">Advanced hunting query</a:t>
            </a:r>
            <a:r>
              <a:rPr lang="en-AU" sz="3175" b="1" spc="-127" dirty="0">
                <a:solidFill>
                  <a:srgbClr val="214BE0"/>
                </a:solidFill>
                <a:latin typeface="Space Grotesk"/>
                <a:ea typeface="Space Grotesk"/>
                <a:cs typeface="Space Grotesk"/>
              </a:rPr>
              <a:t xml:space="preserve">.</a:t>
            </a:r>
            <a:endParaRPr lang="en-AU" sz="3175"/>
          </a:p>
        </p:txBody>
      </p:sp>
      <p:sp>
        <p:nvSpPr>
          <p:cNvPr id="4" name="wordmark"/>
          <p:cNvSpPr txBox="1"/>
          <p:nvPr/>
        </p:nvSpPr>
        <p:spPr>
          <a:xfrm>
            <a:off x="10739331" y="405205"/>
            <a:ext cx="1152746" cy="314858"/>
          </a:xfrm>
          <a:prstGeom prst="rect">
            <a:avLst/>
          </a:prstGeom>
          <a:noFill/>
          <a:ln w="7620" cap="flat">
            <a:noFill/>
            <a:round/>
          </a:ln>
        </p:spPr>
        <p:txBody>
          <a:bodyPr wrap="none" lIns="0" rIns="0" tIns="0" bIns="0" anchor="t" rtlCol="0">
            <a:noAutofit/>
          </a:bodyPr>
          <a:lstStyle/>
          <a:p>
            <a:pPr marL="0" indent="0" algn="l" fontAlgn="base">
              <a:lnSpc>
                <a:spcPts val="1529"/>
              </a:lnSpc>
              <a:spcBef>
                <a:spcPts val="0"/>
              </a:spcBef>
              <a:spcAft>
                <a:spcPts val="0"/>
              </a:spcAft>
              <a:buNone/>
            </a:pPr>
            <a:r>
              <a:rPr lang="en-AU" sz="1529" b="1" spc="-46" dirty="0">
                <a:solidFill>
                  <a:srgbClr val="20231F"/>
                </a:solidFill>
                <a:latin typeface="Space Grotesk"/>
                <a:ea typeface="Space Grotesk"/>
                <a:cs typeface="Space Grotesk"/>
              </a:rPr>
              <a:t xml:space="preserve">CyberScope</a:t>
            </a:r>
            <a:endParaRPr lang="en-AU" sz="1529"/>
          </a:p>
        </p:txBody>
      </p:sp>
      <p:pic>
        <p:nvPicPr>
          <p:cNvPr id="5" name="Microsoft advanced hunting showing a query and records from the custom CyberScope alert log table." descr="Microsoft advanced hunting showing a query and records from the custom CyberScope alert log table."/>
          <p:cNvPicPr>
            <a:picLocks noChangeAspect="1"/>
          </p:cNvPicPr>
          <p:nvPr/>
        </p:nvPicPr>
        <p:blipFill>
          <a:blip r:embed="rId11"/>
          <a:stretch>
            <a:fillRect/>
          </a:stretch>
        </p:blipFill>
        <p:spPr>
          <a:xfrm>
            <a:off x="360883" y="1532576"/>
            <a:ext cx="11470234" cy="4016293"/>
          </a:xfrm>
          <a:prstGeom prst="rect">
            <a:avLst/>
          </a:prstGeom>
        </p:spPr>
      </p:pic>
      <p:sp>
        <p:nvSpPr>
          <p:cNvPr id="6" name="demo-caption top"/>
          <p:cNvSpPr/>
          <p:nvPr/>
        </p:nvSpPr>
        <p:spPr>
          <a:xfrm>
            <a:off x="360883" y="6152924"/>
            <a:ext cx="11470234" cy="7620"/>
          </a:xfrm>
          <a:custGeom>
            <a:avLst/>
            <a:gdLst/>
            <a:ahLst/>
            <a:cxnLst/>
            <a:rect l="0" t="0" r="r" b="b"/>
            <a:pathLst>
              <a:path w="1505280" h="1000" fill="none" stroke="1" extrusionOk="0">
                <a:moveTo>
                  <a:pt x="0" y="0"/>
                </a:moveTo>
                <a:lnTo>
                  <a:pt x="1505280" y="0"/>
                </a:lnTo>
              </a:path>
            </a:pathLst>
          </a:custGeom>
          <a:noFill/>
          <a:ln w="7468" cap="flat">
            <a:solidFill>
              <a:srgbClr val="D2D3C8"/>
            </a:solidFill>
            <a:round/>
          </a:ln>
        </p:spPr>
      </p:sp>
      <p:sp>
        <p:nvSpPr>
          <p:cNvPr id="7" name="SPAN"/>
          <p:cNvSpPr txBox="1"/>
          <p:nvPr/>
        </p:nvSpPr>
        <p:spPr>
          <a:xfrm>
            <a:off x="360883" y="6250003"/>
            <a:ext cx="3286963" cy="232715"/>
          </a:xfrm>
          <a:prstGeom prst="rect">
            <a:avLst/>
          </a:prstGeom>
          <a:noFill/>
          <a:ln w="7620" cap="flat">
            <a:noFill/>
            <a:round/>
          </a:ln>
        </p:spPr>
        <p:txBody>
          <a:bodyPr wrap="none" lIns="0" rIns="0" tIns="0" bIns="0" anchor="t" rtlCol="0">
            <a:noAutofit/>
          </a:bodyPr>
          <a:lstStyle/>
          <a:p>
            <a:pPr marL="0" indent="0" algn="l" fontAlgn="base">
              <a:lnSpc>
                <a:spcPts val="1376"/>
              </a:lnSpc>
              <a:spcBef>
                <a:spcPts val="0"/>
              </a:spcBef>
              <a:spcAft>
                <a:spcPts val="0"/>
              </a:spcAft>
              <a:buNone/>
            </a:pPr>
            <a:r>
              <a:rPr lang="en-AU" sz="1058" b="0" spc="0" dirty="0">
                <a:solidFill>
                  <a:srgbClr val="60645B"/>
                </a:solidFill>
                <a:latin typeface="Space Grotesk"/>
                <a:ea typeface="Space Grotesk"/>
                <a:cs typeface="Space Grotesk"/>
              </a:rPr>
              <a:t xml:space="preserve">Advanced hunting query on the custom log table</a:t>
            </a:r>
            <a:endParaRPr lang="en-AU" sz="1058"/>
          </a:p>
        </p:txBody>
      </p:sp>
      <p:sp>
        <p:nvSpPr>
          <p:cNvPr id="8" name="SPAN"/>
          <p:cNvSpPr txBox="1"/>
          <p:nvPr/>
        </p:nvSpPr>
        <p:spPr>
          <a:xfrm>
            <a:off x="11076889" y="6250003"/>
            <a:ext cx="815187" cy="232715"/>
          </a:xfrm>
          <a:prstGeom prst="rect">
            <a:avLst/>
          </a:prstGeom>
          <a:noFill/>
          <a:ln w="7620" cap="flat">
            <a:noFill/>
            <a:round/>
          </a:ln>
        </p:spPr>
        <p:txBody>
          <a:bodyPr wrap="none" lIns="0" rIns="0" tIns="0" bIns="0" anchor="t" rtlCol="0">
            <a:noAutofit/>
          </a:bodyPr>
          <a:lstStyle/>
          <a:p>
            <a:pPr marL="0" indent="0" algn="l" fontAlgn="base">
              <a:lnSpc>
                <a:spcPts val="1376"/>
              </a:lnSpc>
              <a:spcBef>
                <a:spcPts val="0"/>
              </a:spcBef>
              <a:spcAft>
                <a:spcPts val="0"/>
              </a:spcAft>
              <a:buNone/>
            </a:pPr>
            <a:r>
              <a:rPr lang="en-AU" sz="1058" b="0" spc="0" dirty="0">
                <a:solidFill>
                  <a:srgbClr val="60645B"/>
                </a:solidFill>
                <a:latin typeface="Space Grotesk"/>
                <a:ea typeface="Space Grotesk"/>
                <a:cs typeface="Space Grotesk"/>
              </a:rPr>
              <a:t xml:space="preserve">Demo · 6 / 7</a:t>
            </a:r>
            <a:endParaRPr lang="en-AU" sz="1058"/>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name="Defender alert open.">
    <p:bg>
      <p:bgPr>
        <a:solidFill>
          <a:srgbClr val="F4F1E9"/>
        </a:solidFill>
        <a:effectLst/>
      </p:bgPr>
    </p:bg>
    <p:spTree>
      <p:nvGrpSpPr>
        <p:cNvPr id="1" name="Slide objects"/>
        <p:cNvGrpSpPr/>
        <p:nvPr/>
      </p:nvGrpSpPr>
      <p:grpSpPr>
        <a:xfrm>
          <a:off x="0" y="0"/>
          <a:ext cx="0" cy="0"/>
          <a:chOff x="0" y="0"/>
          <a:chExt cx="0" cy="0"/>
        </a:xfrm>
      </p:grpSpPr>
      <p:sp>
        <p:nvSpPr>
          <p:cNvPr id="2" name="slide-header bottom"/>
          <p:cNvSpPr/>
          <p:nvPr/>
        </p:nvSpPr>
        <p:spPr>
          <a:xfrm>
            <a:off x="360883" y="898650"/>
            <a:ext cx="11470234" cy="7620"/>
          </a:xfrm>
          <a:custGeom>
            <a:avLst/>
            <a:gdLst/>
            <a:ahLst/>
            <a:cxnLst/>
            <a:rect l="0" t="0" r="r" b="b"/>
            <a:pathLst>
              <a:path w="1505280" h="1000" fill="none" stroke="1" extrusionOk="0">
                <a:moveTo>
                  <a:pt x="0" y="0"/>
                </a:moveTo>
                <a:lnTo>
                  <a:pt x="1505280" y="0"/>
                </a:lnTo>
              </a:path>
            </a:pathLst>
          </a:custGeom>
          <a:noFill/>
          <a:ln w="7468" cap="flat">
            <a:solidFill>
              <a:srgbClr val="20231F"/>
            </a:solidFill>
            <a:round/>
          </a:ln>
        </p:spPr>
      </p:sp>
      <p:sp>
        <p:nvSpPr>
          <p:cNvPr id="3" name="demo-defender-title"/>
          <p:cNvSpPr txBox="1"/>
          <p:nvPr/>
        </p:nvSpPr>
        <p:spPr>
          <a:xfrm>
            <a:off x="360883" y="270205"/>
            <a:ext cx="3741087" cy="576224"/>
          </a:xfrm>
          <a:prstGeom prst="rect">
            <a:avLst/>
          </a:prstGeom>
          <a:noFill/>
          <a:ln w="7620" cap="flat">
            <a:noFill/>
            <a:round/>
          </a:ln>
        </p:spPr>
        <p:txBody>
          <a:bodyPr wrap="none" lIns="0" rIns="0" tIns="0" bIns="0" anchor="t" rtlCol="0">
            <a:noAutofit/>
          </a:bodyPr>
          <a:lstStyle/>
          <a:p>
            <a:pPr marL="0" indent="0" algn="l" fontAlgn="base">
              <a:lnSpc>
                <a:spcPts val="3302"/>
              </a:lnSpc>
              <a:spcBef>
                <a:spcPts val="0"/>
              </a:spcBef>
              <a:spcAft>
                <a:spcPts val="0"/>
              </a:spcAft>
              <a:buNone/>
            </a:pPr>
            <a:r>
              <a:rPr lang="en-AU" sz="3175" b="1" spc="-127" dirty="0">
                <a:solidFill>
                  <a:srgbClr val="20231F"/>
                </a:solidFill>
                <a:latin typeface="Space Grotesk"/>
                <a:ea typeface="Space Grotesk"/>
                <a:cs typeface="Space Grotesk"/>
              </a:rPr>
              <a:t xml:space="preserve">Defender alert open</a:t>
            </a:r>
            <a:r>
              <a:rPr lang="en-AU" sz="3175" b="1" spc="-127" dirty="0">
                <a:solidFill>
                  <a:srgbClr val="214BE0"/>
                </a:solidFill>
                <a:latin typeface="Space Grotesk"/>
                <a:ea typeface="Space Grotesk"/>
                <a:cs typeface="Space Grotesk"/>
              </a:rPr>
              <a:t xml:space="preserve">.</a:t>
            </a:r>
            <a:endParaRPr lang="en-AU" sz="3175"/>
          </a:p>
        </p:txBody>
      </p:sp>
      <p:sp>
        <p:nvSpPr>
          <p:cNvPr id="4" name="wordmark"/>
          <p:cNvSpPr txBox="1"/>
          <p:nvPr/>
        </p:nvSpPr>
        <p:spPr>
          <a:xfrm>
            <a:off x="10739331" y="405205"/>
            <a:ext cx="1152746" cy="314858"/>
          </a:xfrm>
          <a:prstGeom prst="rect">
            <a:avLst/>
          </a:prstGeom>
          <a:noFill/>
          <a:ln w="7620" cap="flat">
            <a:noFill/>
            <a:round/>
          </a:ln>
        </p:spPr>
        <p:txBody>
          <a:bodyPr wrap="none" lIns="0" rIns="0" tIns="0" bIns="0" anchor="t" rtlCol="0">
            <a:noAutofit/>
          </a:bodyPr>
          <a:lstStyle/>
          <a:p>
            <a:pPr marL="0" indent="0" algn="l" fontAlgn="base">
              <a:lnSpc>
                <a:spcPts val="1529"/>
              </a:lnSpc>
              <a:spcBef>
                <a:spcPts val="0"/>
              </a:spcBef>
              <a:spcAft>
                <a:spcPts val="0"/>
              </a:spcAft>
              <a:buNone/>
            </a:pPr>
            <a:r>
              <a:rPr lang="en-AU" sz="1529" b="1" spc="-46" dirty="0">
                <a:solidFill>
                  <a:srgbClr val="20231F"/>
                </a:solidFill>
                <a:latin typeface="Space Grotesk"/>
                <a:ea typeface="Space Grotesk"/>
                <a:cs typeface="Space Grotesk"/>
              </a:rPr>
              <a:t xml:space="preserve">CyberScope</a:t>
            </a:r>
            <a:endParaRPr lang="en-AU" sz="1529"/>
          </a:p>
        </p:txBody>
      </p:sp>
      <p:pic>
        <p:nvPicPr>
          <p:cNvPr id="5" name="Microsoft Defender showing the open Cyber Scope Node Deviation Alert and its recorded details." descr="Microsoft Defender showing the open Cyber Scope Node Deviation Alert and its recorded details."/>
          <p:cNvPicPr>
            <a:picLocks noChangeAspect="1"/>
          </p:cNvPicPr>
          <p:nvPr/>
        </p:nvPicPr>
        <p:blipFill>
          <a:blip r:embed="rId11"/>
          <a:stretch>
            <a:fillRect/>
          </a:stretch>
        </p:blipFill>
        <p:spPr>
          <a:xfrm>
            <a:off x="1058462" y="1048002"/>
            <a:ext cx="10075077" cy="4985440"/>
          </a:xfrm>
          <a:prstGeom prst="rect">
            <a:avLst/>
          </a:prstGeom>
        </p:spPr>
      </p:pic>
      <p:sp>
        <p:nvSpPr>
          <p:cNvPr id="6" name="demo-caption top"/>
          <p:cNvSpPr/>
          <p:nvPr/>
        </p:nvSpPr>
        <p:spPr>
          <a:xfrm>
            <a:off x="360883" y="6152924"/>
            <a:ext cx="11470234" cy="7620"/>
          </a:xfrm>
          <a:custGeom>
            <a:avLst/>
            <a:gdLst/>
            <a:ahLst/>
            <a:cxnLst/>
            <a:rect l="0" t="0" r="r" b="b"/>
            <a:pathLst>
              <a:path w="1505280" h="1000" fill="none" stroke="1" extrusionOk="0">
                <a:moveTo>
                  <a:pt x="0" y="0"/>
                </a:moveTo>
                <a:lnTo>
                  <a:pt x="1505280" y="0"/>
                </a:lnTo>
              </a:path>
            </a:pathLst>
          </a:custGeom>
          <a:noFill/>
          <a:ln w="7468" cap="flat">
            <a:solidFill>
              <a:srgbClr val="D2D3C8"/>
            </a:solidFill>
            <a:round/>
          </a:ln>
        </p:spPr>
      </p:sp>
      <p:sp>
        <p:nvSpPr>
          <p:cNvPr id="7" name="SPAN"/>
          <p:cNvSpPr txBox="1"/>
          <p:nvPr/>
        </p:nvSpPr>
        <p:spPr>
          <a:xfrm>
            <a:off x="360883" y="6250003"/>
            <a:ext cx="1487272" cy="232715"/>
          </a:xfrm>
          <a:prstGeom prst="rect">
            <a:avLst/>
          </a:prstGeom>
          <a:noFill/>
          <a:ln w="7620" cap="flat">
            <a:noFill/>
            <a:round/>
          </a:ln>
        </p:spPr>
        <p:txBody>
          <a:bodyPr wrap="none" lIns="0" rIns="0" tIns="0" bIns="0" anchor="t" rtlCol="0">
            <a:noAutofit/>
          </a:bodyPr>
          <a:lstStyle/>
          <a:p>
            <a:pPr marL="0" indent="0" algn="l" fontAlgn="base">
              <a:lnSpc>
                <a:spcPts val="1376"/>
              </a:lnSpc>
              <a:spcBef>
                <a:spcPts val="0"/>
              </a:spcBef>
              <a:spcAft>
                <a:spcPts val="0"/>
              </a:spcAft>
              <a:buNone/>
            </a:pPr>
            <a:r>
              <a:rPr lang="en-AU" sz="1058" b="0" spc="0" dirty="0">
                <a:solidFill>
                  <a:srgbClr val="60645B"/>
                </a:solidFill>
                <a:latin typeface="Space Grotesk"/>
                <a:ea typeface="Space Grotesk"/>
                <a:cs typeface="Space Grotesk"/>
              </a:rPr>
              <a:t xml:space="preserve">Defender alert details</a:t>
            </a:r>
            <a:endParaRPr lang="en-AU" sz="1058"/>
          </a:p>
        </p:txBody>
      </p:sp>
      <p:sp>
        <p:nvSpPr>
          <p:cNvPr id="8" name="SPAN"/>
          <p:cNvSpPr txBox="1"/>
          <p:nvPr/>
        </p:nvSpPr>
        <p:spPr>
          <a:xfrm>
            <a:off x="11076889" y="6250003"/>
            <a:ext cx="815187" cy="232715"/>
          </a:xfrm>
          <a:prstGeom prst="rect">
            <a:avLst/>
          </a:prstGeom>
          <a:noFill/>
          <a:ln w="7620" cap="flat">
            <a:noFill/>
            <a:round/>
          </a:ln>
        </p:spPr>
        <p:txBody>
          <a:bodyPr wrap="none" lIns="0" rIns="0" tIns="0" bIns="0" anchor="t" rtlCol="0">
            <a:noAutofit/>
          </a:bodyPr>
          <a:lstStyle/>
          <a:p>
            <a:pPr marL="0" indent="0" algn="l" fontAlgn="base">
              <a:lnSpc>
                <a:spcPts val="1376"/>
              </a:lnSpc>
              <a:spcBef>
                <a:spcPts val="0"/>
              </a:spcBef>
              <a:spcAft>
                <a:spcPts val="0"/>
              </a:spcAft>
              <a:buNone/>
            </a:pPr>
            <a:r>
              <a:rPr lang="en-AU" sz="1058" b="0" spc="0" dirty="0">
                <a:solidFill>
                  <a:srgbClr val="60645B"/>
                </a:solidFill>
                <a:latin typeface="Space Grotesk"/>
                <a:ea typeface="Space Grotesk"/>
                <a:cs typeface="Space Grotesk"/>
              </a:rPr>
              <a:t xml:space="preserve">Demo · 7 / 7</a:t>
            </a:r>
            <a:endParaRPr lang="en-AU" sz="1058"/>
          </a:p>
        </p:txBody>
      </p:sp>
    </p:spTree>
  </p:cSld>
  <p:clrMapOvr>
    <a:masterClrMapping/>
  </p:clrMapOvr>
</p:sld>
</file>

<file path=ppt/theme/theme1.xml><?xml version="1.0" encoding="utf-8"?>
<a:theme xmlns:a="http://schemas.openxmlformats.org/drawingml/2006/main" name="CyberScope">
  <a:themeElements>
    <a:clrScheme name="CyberScope">
      <a:dk1>
        <a:srgbClr val="20231F"/>
      </a:dk1>
      <a:lt1>
        <a:srgbClr val="F4F1E9"/>
      </a:lt1>
      <a:dk2>
        <a:srgbClr val="60645B"/>
      </a:dk2>
      <a:lt2>
        <a:srgbClr val="D2D3C8"/>
      </a:lt2>
      <a:accent1>
        <a:srgbClr val="214BE0"/>
      </a:accent1>
      <a:accent2>
        <a:srgbClr val="08766B"/>
      </a:accent2>
      <a:accent3>
        <a:srgbClr val="C43E2D"/>
      </a:accent3>
      <a:accent4>
        <a:srgbClr val="E6EBFC"/>
      </a:accent4>
      <a:accent5>
        <a:srgbClr val="E2EEE5"/>
      </a:accent5>
      <a:accent6>
        <a:srgbClr val="F8E7DF"/>
      </a:accent6>
      <a:hlink>
        <a:srgbClr val="214BE0"/>
      </a:hlink>
      <a:folHlink>
        <a:srgbClr val="6F4A99"/>
      </a:folHlink>
    </a:clrScheme>
    <a:fontScheme name="Space Grotesk">
      <a:majorFont>
        <a:latin typeface="Space Grotesk"/>
        <a:ea typeface=""/>
        <a:cs typeface=""/>
      </a:majorFont>
      <a:minorFont>
        <a:latin typeface="Space Grotesk"/>
        <a:ea typeface=""/>
        <a:cs typeface=""/>
      </a:minorFont>
    </a:fontScheme>
    <a:fmtScheme name="CyberScope">
      <a:fillStyleLst>
        <a:solidFill>
          <a:schemeClr val="phClr"/>
        </a:solidFill>
        <a:solidFill>
          <a:schemeClr val="phClr"/>
        </a:solidFill>
        <a:solidFill>
          <a:schemeClr val="phClr"/>
        </a:solidFill>
      </a:fillStyleLst>
      <a:lnStyleLst>
        <a:ln w="9525" cap="flat" cmpd="sng" algn="ctr">
          <a:solidFill>
            <a:schemeClr val="phClr"/>
          </a:solidFill>
          <a:prstDash val="solid"/>
          <a:miter lim="800000"/>
        </a:ln>
        <a:ln w="19050" cap="flat" cmpd="sng" algn="ctr">
          <a:solidFill>
            <a:schemeClr val="phClr"/>
          </a:solidFill>
          <a:prstDash val="solid"/>
          <a:miter lim="800000"/>
        </a:ln>
        <a:ln w="28575" cap="flat" cmpd="sng" algn="ctr">
          <a:solidFill>
            <a:schemeClr val="phClr"/>
          </a:solidFill>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ep:Properties xmlns:ep="http://schemas.openxmlformats.org/officeDocument/2006/extended-properties">
  <ep:Application>CyberScope static presentation export</ep:Application>
  <ep:PresentationFormat>Widescreen</ep:PresentationFormat>
  <ep:Slides>10</ep:Slides>
  <ep:Notes>3</ep:Notes>
</ep:Properties>
</file>

<file path=docProps/core.xml><?xml version="1.0" encoding="utf-8"?>
<cp:coreProperties xmlns:cp="http://schemas.openxmlformats.org/package/2006/metadata/core-properties" xmlns:dc="http://purl.org/dc/elements/1.1/" xmlns:dcterms="http://purl.org/dc/terms/" xmlns:xsi="http://www.w3.org/2001/XMLSchema-instance">
  <dc:title>CyberScope — editable static presentation</dc:title>
  <dc:creator>CyberScope team</dc:creator>
  <cp:lastModifiedBy>CyberScope team</cp:lastModifiedBy>
  <dcterms:created xsi:type="dcterms:W3CDTF">2026-10-28T10:50:23Z</dcterms:created>
  <dcterms:modified xsi:type="dcterms:W3CDTF">2026-10-28T10:50:23Z</dcterms:modified>
</cp:coreProperties>
</file>